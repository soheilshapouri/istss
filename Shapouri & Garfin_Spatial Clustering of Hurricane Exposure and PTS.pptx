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41148000" cy="4114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" d="100"/>
          <a:sy n="20" d="100"/>
        </p:scale>
        <p:origin x="620" y="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294D98-ED3E-4058-AFBA-156D15A65251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D37CCA-EC79-4326-89A6-1C9FF5F2D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706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950208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1pPr>
    <a:lvl2pPr marL="1975104" algn="l" defTabSz="3950208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2pPr>
    <a:lvl3pPr marL="3950208" algn="l" defTabSz="3950208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3pPr>
    <a:lvl4pPr marL="5925312" algn="l" defTabSz="3950208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4pPr>
    <a:lvl5pPr marL="7900416" algn="l" defTabSz="3950208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5pPr>
    <a:lvl6pPr marL="9875520" algn="l" defTabSz="3950208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6pPr>
    <a:lvl7pPr marL="11850624" algn="l" defTabSz="3950208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7pPr>
    <a:lvl8pPr marL="13825728" algn="l" defTabSz="3950208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8pPr>
    <a:lvl9pPr marL="15800832" algn="l" defTabSz="3950208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actual QR code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D37CCA-EC79-4326-89A6-1C9FF5F2D7F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379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86100" y="6734178"/>
            <a:ext cx="34975800" cy="14325600"/>
          </a:xfrm>
        </p:spPr>
        <p:txBody>
          <a:bodyPr anchor="b"/>
          <a:lstStyle>
            <a:lvl1pPr algn="ctr">
              <a:defRPr sz="2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43500" y="21612228"/>
            <a:ext cx="30861000" cy="9934572"/>
          </a:xfrm>
        </p:spPr>
        <p:txBody>
          <a:bodyPr/>
          <a:lstStyle>
            <a:lvl1pPr marL="0" indent="0" algn="ctr">
              <a:buNone/>
              <a:defRPr sz="10800"/>
            </a:lvl1pPr>
            <a:lvl2pPr marL="2057400" indent="0" algn="ctr">
              <a:buNone/>
              <a:defRPr sz="9000"/>
            </a:lvl2pPr>
            <a:lvl3pPr marL="4114800" indent="0" algn="ctr">
              <a:buNone/>
              <a:defRPr sz="8100"/>
            </a:lvl3pPr>
            <a:lvl4pPr marL="6172200" indent="0" algn="ctr">
              <a:buNone/>
              <a:defRPr sz="7200"/>
            </a:lvl4pPr>
            <a:lvl5pPr marL="8229600" indent="0" algn="ctr">
              <a:buNone/>
              <a:defRPr sz="7200"/>
            </a:lvl5pPr>
            <a:lvl6pPr marL="10287000" indent="0" algn="ctr">
              <a:buNone/>
              <a:defRPr sz="7200"/>
            </a:lvl6pPr>
            <a:lvl7pPr marL="12344400" indent="0" algn="ctr">
              <a:buNone/>
              <a:defRPr sz="7200"/>
            </a:lvl7pPr>
            <a:lvl8pPr marL="14401800" indent="0" algn="ctr">
              <a:buNone/>
              <a:defRPr sz="7200"/>
            </a:lvl8pPr>
            <a:lvl9pPr marL="16459200" indent="0" algn="ctr">
              <a:buNone/>
              <a:defRPr sz="7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F3710-84C9-41AF-B4AF-3F58B3A597C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9A69-02E2-4FEE-94BF-164A66AF2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396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F3710-84C9-41AF-B4AF-3F58B3A597C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9A69-02E2-4FEE-94BF-164A66AF2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890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7496" y="10258437"/>
            <a:ext cx="35490150" cy="17116422"/>
          </a:xfrm>
        </p:spPr>
        <p:txBody>
          <a:bodyPr anchor="b"/>
          <a:lstStyle>
            <a:lvl1pPr>
              <a:defRPr sz="2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07496" y="27536787"/>
            <a:ext cx="35490150" cy="9001122"/>
          </a:xfrm>
        </p:spPr>
        <p:txBody>
          <a:bodyPr/>
          <a:lstStyle>
            <a:lvl1pPr marL="0" indent="0">
              <a:buNone/>
              <a:defRPr sz="10800">
                <a:solidFill>
                  <a:schemeClr val="tx1">
                    <a:tint val="82000"/>
                  </a:schemeClr>
                </a:solidFill>
              </a:defRPr>
            </a:lvl1pPr>
            <a:lvl2pPr marL="2057400" indent="0">
              <a:buNone/>
              <a:defRPr sz="9000">
                <a:solidFill>
                  <a:schemeClr val="tx1">
                    <a:tint val="82000"/>
                  </a:schemeClr>
                </a:solidFill>
              </a:defRPr>
            </a:lvl2pPr>
            <a:lvl3pPr marL="4114800" indent="0">
              <a:buNone/>
              <a:defRPr sz="8100">
                <a:solidFill>
                  <a:schemeClr val="tx1">
                    <a:tint val="82000"/>
                  </a:schemeClr>
                </a:solidFill>
              </a:defRPr>
            </a:lvl3pPr>
            <a:lvl4pPr marL="6172200" indent="0">
              <a:buNone/>
              <a:defRPr sz="7200">
                <a:solidFill>
                  <a:schemeClr val="tx1">
                    <a:tint val="82000"/>
                  </a:schemeClr>
                </a:solidFill>
              </a:defRPr>
            </a:lvl4pPr>
            <a:lvl5pPr marL="8229600" indent="0">
              <a:buNone/>
              <a:defRPr sz="7200">
                <a:solidFill>
                  <a:schemeClr val="tx1">
                    <a:tint val="82000"/>
                  </a:schemeClr>
                </a:solidFill>
              </a:defRPr>
            </a:lvl5pPr>
            <a:lvl6pPr marL="10287000" indent="0">
              <a:buNone/>
              <a:defRPr sz="7200">
                <a:solidFill>
                  <a:schemeClr val="tx1">
                    <a:tint val="82000"/>
                  </a:schemeClr>
                </a:solidFill>
              </a:defRPr>
            </a:lvl6pPr>
            <a:lvl7pPr marL="12344400" indent="0">
              <a:buNone/>
              <a:defRPr sz="7200">
                <a:solidFill>
                  <a:schemeClr val="tx1">
                    <a:tint val="82000"/>
                  </a:schemeClr>
                </a:solidFill>
              </a:defRPr>
            </a:lvl7pPr>
            <a:lvl8pPr marL="14401800" indent="0">
              <a:buNone/>
              <a:defRPr sz="7200">
                <a:solidFill>
                  <a:schemeClr val="tx1">
                    <a:tint val="82000"/>
                  </a:schemeClr>
                </a:solidFill>
              </a:defRPr>
            </a:lvl8pPr>
            <a:lvl9pPr marL="16459200" indent="0">
              <a:buNone/>
              <a:defRPr sz="7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F3710-84C9-41AF-B4AF-3F58B3A597C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9A69-02E2-4FEE-94BF-164A66AF2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657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28925" y="10953750"/>
            <a:ext cx="17487900" cy="26108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31175" y="10953750"/>
            <a:ext cx="17487900" cy="26108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F3710-84C9-41AF-B4AF-3F58B3A597C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9A69-02E2-4FEE-94BF-164A66AF2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89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85" y="2190759"/>
            <a:ext cx="35490150" cy="79533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34289" y="10086978"/>
            <a:ext cx="17407530" cy="4943472"/>
          </a:xfrm>
        </p:spPr>
        <p:txBody>
          <a:bodyPr anchor="b"/>
          <a:lstStyle>
            <a:lvl1pPr marL="0" indent="0">
              <a:buNone/>
              <a:defRPr sz="10800" b="1"/>
            </a:lvl1pPr>
            <a:lvl2pPr marL="2057400" indent="0">
              <a:buNone/>
              <a:defRPr sz="9000" b="1"/>
            </a:lvl2pPr>
            <a:lvl3pPr marL="4114800" indent="0">
              <a:buNone/>
              <a:defRPr sz="8100" b="1"/>
            </a:lvl3pPr>
            <a:lvl4pPr marL="6172200" indent="0">
              <a:buNone/>
              <a:defRPr sz="7200" b="1"/>
            </a:lvl4pPr>
            <a:lvl5pPr marL="8229600" indent="0">
              <a:buNone/>
              <a:defRPr sz="7200" b="1"/>
            </a:lvl5pPr>
            <a:lvl6pPr marL="10287000" indent="0">
              <a:buNone/>
              <a:defRPr sz="7200" b="1"/>
            </a:lvl6pPr>
            <a:lvl7pPr marL="12344400" indent="0">
              <a:buNone/>
              <a:defRPr sz="7200" b="1"/>
            </a:lvl7pPr>
            <a:lvl8pPr marL="14401800" indent="0">
              <a:buNone/>
              <a:defRPr sz="7200" b="1"/>
            </a:lvl8pPr>
            <a:lvl9pPr marL="16459200" indent="0">
              <a:buNone/>
              <a:defRPr sz="7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34289" y="15030450"/>
            <a:ext cx="17407530" cy="221075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831177" y="10086978"/>
            <a:ext cx="17493260" cy="4943472"/>
          </a:xfrm>
        </p:spPr>
        <p:txBody>
          <a:bodyPr anchor="b"/>
          <a:lstStyle>
            <a:lvl1pPr marL="0" indent="0">
              <a:buNone/>
              <a:defRPr sz="10800" b="1"/>
            </a:lvl1pPr>
            <a:lvl2pPr marL="2057400" indent="0">
              <a:buNone/>
              <a:defRPr sz="9000" b="1"/>
            </a:lvl2pPr>
            <a:lvl3pPr marL="4114800" indent="0">
              <a:buNone/>
              <a:defRPr sz="8100" b="1"/>
            </a:lvl3pPr>
            <a:lvl4pPr marL="6172200" indent="0">
              <a:buNone/>
              <a:defRPr sz="7200" b="1"/>
            </a:lvl4pPr>
            <a:lvl5pPr marL="8229600" indent="0">
              <a:buNone/>
              <a:defRPr sz="7200" b="1"/>
            </a:lvl5pPr>
            <a:lvl6pPr marL="10287000" indent="0">
              <a:buNone/>
              <a:defRPr sz="7200" b="1"/>
            </a:lvl6pPr>
            <a:lvl7pPr marL="12344400" indent="0">
              <a:buNone/>
              <a:defRPr sz="7200" b="1"/>
            </a:lvl7pPr>
            <a:lvl8pPr marL="14401800" indent="0">
              <a:buNone/>
              <a:defRPr sz="7200" b="1"/>
            </a:lvl8pPr>
            <a:lvl9pPr marL="16459200" indent="0">
              <a:buNone/>
              <a:defRPr sz="7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831177" y="15030450"/>
            <a:ext cx="17493260" cy="221075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F3710-84C9-41AF-B4AF-3F58B3A597C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9A69-02E2-4FEE-94BF-164A66AF2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406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F3710-84C9-41AF-B4AF-3F58B3A597C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9A69-02E2-4FEE-94BF-164A66AF2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657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F3710-84C9-41AF-B4AF-3F58B3A597C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9A69-02E2-4FEE-94BF-164A66AF2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04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85" y="2743200"/>
            <a:ext cx="13271301" cy="9601200"/>
          </a:xfrm>
        </p:spPr>
        <p:txBody>
          <a:bodyPr anchor="b"/>
          <a:lstStyle>
            <a:lvl1pPr>
              <a:defRPr sz="1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93259" y="5924559"/>
            <a:ext cx="20831175" cy="29241750"/>
          </a:xfrm>
        </p:spPr>
        <p:txBody>
          <a:bodyPr/>
          <a:lstStyle>
            <a:lvl1pPr>
              <a:defRPr sz="14400"/>
            </a:lvl1pPr>
            <a:lvl2pPr>
              <a:defRPr sz="12600"/>
            </a:lvl2pPr>
            <a:lvl3pPr>
              <a:defRPr sz="10800"/>
            </a:lvl3pPr>
            <a:lvl4pPr>
              <a:defRPr sz="9000"/>
            </a:lvl4pPr>
            <a:lvl5pPr>
              <a:defRPr sz="9000"/>
            </a:lvl5pPr>
            <a:lvl6pPr>
              <a:defRPr sz="9000"/>
            </a:lvl6pPr>
            <a:lvl7pPr>
              <a:defRPr sz="9000"/>
            </a:lvl7pPr>
            <a:lvl8pPr>
              <a:defRPr sz="9000"/>
            </a:lvl8pPr>
            <a:lvl9pPr>
              <a:defRPr sz="9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4285" y="12344400"/>
            <a:ext cx="13271301" cy="22869528"/>
          </a:xfrm>
        </p:spPr>
        <p:txBody>
          <a:bodyPr/>
          <a:lstStyle>
            <a:lvl1pPr marL="0" indent="0">
              <a:buNone/>
              <a:defRPr sz="7200"/>
            </a:lvl1pPr>
            <a:lvl2pPr marL="2057400" indent="0">
              <a:buNone/>
              <a:defRPr sz="6300"/>
            </a:lvl2pPr>
            <a:lvl3pPr marL="4114800" indent="0">
              <a:buNone/>
              <a:defRPr sz="5400"/>
            </a:lvl3pPr>
            <a:lvl4pPr marL="6172200" indent="0">
              <a:buNone/>
              <a:defRPr sz="4500"/>
            </a:lvl4pPr>
            <a:lvl5pPr marL="8229600" indent="0">
              <a:buNone/>
              <a:defRPr sz="4500"/>
            </a:lvl5pPr>
            <a:lvl6pPr marL="10287000" indent="0">
              <a:buNone/>
              <a:defRPr sz="4500"/>
            </a:lvl6pPr>
            <a:lvl7pPr marL="12344400" indent="0">
              <a:buNone/>
              <a:defRPr sz="4500"/>
            </a:lvl7pPr>
            <a:lvl8pPr marL="14401800" indent="0">
              <a:buNone/>
              <a:defRPr sz="4500"/>
            </a:lvl8pPr>
            <a:lvl9pPr marL="16459200" indent="0">
              <a:buNone/>
              <a:defRPr sz="4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F3710-84C9-41AF-B4AF-3F58B3A597C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9A69-02E2-4FEE-94BF-164A66AF2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42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85" y="2743200"/>
            <a:ext cx="13271301" cy="9601200"/>
          </a:xfrm>
        </p:spPr>
        <p:txBody>
          <a:bodyPr anchor="b"/>
          <a:lstStyle>
            <a:lvl1pPr>
              <a:defRPr sz="1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493259" y="5924559"/>
            <a:ext cx="20831175" cy="29241750"/>
          </a:xfrm>
        </p:spPr>
        <p:txBody>
          <a:bodyPr anchor="t"/>
          <a:lstStyle>
            <a:lvl1pPr marL="0" indent="0">
              <a:buNone/>
              <a:defRPr sz="14400"/>
            </a:lvl1pPr>
            <a:lvl2pPr marL="2057400" indent="0">
              <a:buNone/>
              <a:defRPr sz="12600"/>
            </a:lvl2pPr>
            <a:lvl3pPr marL="4114800" indent="0">
              <a:buNone/>
              <a:defRPr sz="10800"/>
            </a:lvl3pPr>
            <a:lvl4pPr marL="6172200" indent="0">
              <a:buNone/>
              <a:defRPr sz="9000"/>
            </a:lvl4pPr>
            <a:lvl5pPr marL="8229600" indent="0">
              <a:buNone/>
              <a:defRPr sz="9000"/>
            </a:lvl5pPr>
            <a:lvl6pPr marL="10287000" indent="0">
              <a:buNone/>
              <a:defRPr sz="9000"/>
            </a:lvl6pPr>
            <a:lvl7pPr marL="12344400" indent="0">
              <a:buNone/>
              <a:defRPr sz="9000"/>
            </a:lvl7pPr>
            <a:lvl8pPr marL="14401800" indent="0">
              <a:buNone/>
              <a:defRPr sz="9000"/>
            </a:lvl8pPr>
            <a:lvl9pPr marL="16459200" indent="0">
              <a:buNone/>
              <a:defRPr sz="9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4285" y="12344400"/>
            <a:ext cx="13271301" cy="22869528"/>
          </a:xfrm>
        </p:spPr>
        <p:txBody>
          <a:bodyPr/>
          <a:lstStyle>
            <a:lvl1pPr marL="0" indent="0">
              <a:buNone/>
              <a:defRPr sz="7200"/>
            </a:lvl1pPr>
            <a:lvl2pPr marL="2057400" indent="0">
              <a:buNone/>
              <a:defRPr sz="6300"/>
            </a:lvl2pPr>
            <a:lvl3pPr marL="4114800" indent="0">
              <a:buNone/>
              <a:defRPr sz="5400"/>
            </a:lvl3pPr>
            <a:lvl4pPr marL="6172200" indent="0">
              <a:buNone/>
              <a:defRPr sz="4500"/>
            </a:lvl4pPr>
            <a:lvl5pPr marL="8229600" indent="0">
              <a:buNone/>
              <a:defRPr sz="4500"/>
            </a:lvl5pPr>
            <a:lvl6pPr marL="10287000" indent="0">
              <a:buNone/>
              <a:defRPr sz="4500"/>
            </a:lvl6pPr>
            <a:lvl7pPr marL="12344400" indent="0">
              <a:buNone/>
              <a:defRPr sz="4500"/>
            </a:lvl7pPr>
            <a:lvl8pPr marL="14401800" indent="0">
              <a:buNone/>
              <a:defRPr sz="4500"/>
            </a:lvl8pPr>
            <a:lvl9pPr marL="16459200" indent="0">
              <a:buNone/>
              <a:defRPr sz="4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F3710-84C9-41AF-B4AF-3F58B3A597C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9A69-02E2-4FEE-94BF-164A66AF2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355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F3710-84C9-41AF-B4AF-3F58B3A597C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9A69-02E2-4FEE-94BF-164A66AF2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308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446540" y="2190750"/>
            <a:ext cx="8872538" cy="348710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28927" y="2190750"/>
            <a:ext cx="26103263" cy="348710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F3710-84C9-41AF-B4AF-3F58B3A597C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9A69-02E2-4FEE-94BF-164A66AF2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283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28925" y="2190759"/>
            <a:ext cx="35490150" cy="7953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8925" y="10953750"/>
            <a:ext cx="35490150" cy="261080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28925" y="38138109"/>
            <a:ext cx="9258300" cy="2190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0F3710-84C9-41AF-B4AF-3F58B3A597C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630275" y="38138109"/>
            <a:ext cx="13887450" cy="2190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060775" y="38138109"/>
            <a:ext cx="9258300" cy="2190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C59A69-02E2-4FEE-94BF-164A66AF2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396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114800" rtl="0" eaLnBrk="1" latinLnBrk="0" hangingPunct="1">
        <a:lnSpc>
          <a:spcPct val="90000"/>
        </a:lnSpc>
        <a:spcBef>
          <a:spcPct val="0"/>
        </a:spcBef>
        <a:buNone/>
        <a:defRPr sz="19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28700" indent="-1028700" algn="l" defTabSz="4114800" rtl="0" eaLnBrk="1" latinLnBrk="0" hangingPunct="1">
        <a:lnSpc>
          <a:spcPct val="90000"/>
        </a:lnSpc>
        <a:spcBef>
          <a:spcPts val="4500"/>
        </a:spcBef>
        <a:buFont typeface="Arial" panose="020B0604020202020204" pitchFamily="34" charset="0"/>
        <a:buChar char="•"/>
        <a:defRPr sz="12600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0" indent="-1028700" algn="l" defTabSz="4114800" rtl="0" eaLnBrk="1" latinLnBrk="0" hangingPunct="1">
        <a:lnSpc>
          <a:spcPct val="90000"/>
        </a:lnSpc>
        <a:spcBef>
          <a:spcPts val="2250"/>
        </a:spcBef>
        <a:buFont typeface="Arial" panose="020B0604020202020204" pitchFamily="34" charset="0"/>
        <a:buChar char="•"/>
        <a:defRPr sz="108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0" indent="-1028700" algn="l" defTabSz="4114800" rtl="0" eaLnBrk="1" latinLnBrk="0" hangingPunct="1">
        <a:lnSpc>
          <a:spcPct val="90000"/>
        </a:lnSpc>
        <a:spcBef>
          <a:spcPts val="2250"/>
        </a:spcBef>
        <a:buFont typeface="Arial" panose="020B0604020202020204" pitchFamily="34" charset="0"/>
        <a:buChar char="•"/>
        <a:defRPr sz="90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0" indent="-1028700" algn="l" defTabSz="4114800" rtl="0" eaLnBrk="1" latinLnBrk="0" hangingPunct="1">
        <a:lnSpc>
          <a:spcPct val="90000"/>
        </a:lnSpc>
        <a:spcBef>
          <a:spcPts val="2250"/>
        </a:spcBef>
        <a:buFont typeface="Arial" panose="020B0604020202020204" pitchFamily="34" charset="0"/>
        <a:buChar char="•"/>
        <a:defRPr sz="8100" kern="1200">
          <a:solidFill>
            <a:schemeClr val="tx1"/>
          </a:solidFill>
          <a:latin typeface="+mn-lt"/>
          <a:ea typeface="+mn-ea"/>
          <a:cs typeface="+mn-cs"/>
        </a:defRPr>
      </a:lvl4pPr>
      <a:lvl5pPr marL="9258300" indent="-1028700" algn="l" defTabSz="4114800" rtl="0" eaLnBrk="1" latinLnBrk="0" hangingPunct="1">
        <a:lnSpc>
          <a:spcPct val="90000"/>
        </a:lnSpc>
        <a:spcBef>
          <a:spcPts val="2250"/>
        </a:spcBef>
        <a:buFont typeface="Arial" panose="020B0604020202020204" pitchFamily="34" charset="0"/>
        <a:buChar char="•"/>
        <a:defRPr sz="8100" kern="1200">
          <a:solidFill>
            <a:schemeClr val="tx1"/>
          </a:solidFill>
          <a:latin typeface="+mn-lt"/>
          <a:ea typeface="+mn-ea"/>
          <a:cs typeface="+mn-cs"/>
        </a:defRPr>
      </a:lvl5pPr>
      <a:lvl6pPr marL="11315700" indent="-1028700" algn="l" defTabSz="4114800" rtl="0" eaLnBrk="1" latinLnBrk="0" hangingPunct="1">
        <a:lnSpc>
          <a:spcPct val="90000"/>
        </a:lnSpc>
        <a:spcBef>
          <a:spcPts val="2250"/>
        </a:spcBef>
        <a:buFont typeface="Arial" panose="020B0604020202020204" pitchFamily="34" charset="0"/>
        <a:buChar char="•"/>
        <a:defRPr sz="8100" kern="1200">
          <a:solidFill>
            <a:schemeClr val="tx1"/>
          </a:solidFill>
          <a:latin typeface="+mn-lt"/>
          <a:ea typeface="+mn-ea"/>
          <a:cs typeface="+mn-cs"/>
        </a:defRPr>
      </a:lvl6pPr>
      <a:lvl7pPr marL="13373100" indent="-1028700" algn="l" defTabSz="4114800" rtl="0" eaLnBrk="1" latinLnBrk="0" hangingPunct="1">
        <a:lnSpc>
          <a:spcPct val="90000"/>
        </a:lnSpc>
        <a:spcBef>
          <a:spcPts val="2250"/>
        </a:spcBef>
        <a:buFont typeface="Arial" panose="020B0604020202020204" pitchFamily="34" charset="0"/>
        <a:buChar char="•"/>
        <a:defRPr sz="8100" kern="1200">
          <a:solidFill>
            <a:schemeClr val="tx1"/>
          </a:solidFill>
          <a:latin typeface="+mn-lt"/>
          <a:ea typeface="+mn-ea"/>
          <a:cs typeface="+mn-cs"/>
        </a:defRPr>
      </a:lvl7pPr>
      <a:lvl8pPr marL="15430500" indent="-1028700" algn="l" defTabSz="4114800" rtl="0" eaLnBrk="1" latinLnBrk="0" hangingPunct="1">
        <a:lnSpc>
          <a:spcPct val="90000"/>
        </a:lnSpc>
        <a:spcBef>
          <a:spcPts val="2250"/>
        </a:spcBef>
        <a:buFont typeface="Arial" panose="020B0604020202020204" pitchFamily="34" charset="0"/>
        <a:buChar char="•"/>
        <a:defRPr sz="8100" kern="1200">
          <a:solidFill>
            <a:schemeClr val="tx1"/>
          </a:solidFill>
          <a:latin typeface="+mn-lt"/>
          <a:ea typeface="+mn-ea"/>
          <a:cs typeface="+mn-cs"/>
        </a:defRPr>
      </a:lvl8pPr>
      <a:lvl9pPr marL="17487900" indent="-1028700" algn="l" defTabSz="4114800" rtl="0" eaLnBrk="1" latinLnBrk="0" hangingPunct="1">
        <a:lnSpc>
          <a:spcPct val="90000"/>
        </a:lnSpc>
        <a:spcBef>
          <a:spcPts val="2250"/>
        </a:spcBef>
        <a:buFont typeface="Arial" panose="020B0604020202020204" pitchFamily="34" charset="0"/>
        <a:buChar char="•"/>
        <a:defRPr sz="8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800" rtl="0" eaLnBrk="1" latinLnBrk="0" hangingPunct="1">
        <a:defRPr sz="810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0" algn="l" defTabSz="4114800" rtl="0" eaLnBrk="1" latinLnBrk="0" hangingPunct="1">
        <a:defRPr sz="810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algn="l" defTabSz="4114800" rtl="0" eaLnBrk="1" latinLnBrk="0" hangingPunct="1">
        <a:defRPr sz="8100" kern="1200">
          <a:solidFill>
            <a:schemeClr val="tx1"/>
          </a:solidFill>
          <a:latin typeface="+mn-lt"/>
          <a:ea typeface="+mn-ea"/>
          <a:cs typeface="+mn-cs"/>
        </a:defRPr>
      </a:lvl3pPr>
      <a:lvl4pPr marL="6172200" algn="l" defTabSz="4114800" rtl="0" eaLnBrk="1" latinLnBrk="0" hangingPunct="1">
        <a:defRPr sz="810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0" algn="l" defTabSz="4114800" rtl="0" eaLnBrk="1" latinLnBrk="0" hangingPunct="1">
        <a:defRPr sz="81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7000" algn="l" defTabSz="4114800" rtl="0" eaLnBrk="1" latinLnBrk="0" hangingPunct="1">
        <a:defRPr sz="8100" kern="1200">
          <a:solidFill>
            <a:schemeClr val="tx1"/>
          </a:solidFill>
          <a:latin typeface="+mn-lt"/>
          <a:ea typeface="+mn-ea"/>
          <a:cs typeface="+mn-cs"/>
        </a:defRPr>
      </a:lvl6pPr>
      <a:lvl7pPr marL="12344400" algn="l" defTabSz="4114800" rtl="0" eaLnBrk="1" latinLnBrk="0" hangingPunct="1">
        <a:defRPr sz="8100" kern="1200">
          <a:solidFill>
            <a:schemeClr val="tx1"/>
          </a:solidFill>
          <a:latin typeface="+mn-lt"/>
          <a:ea typeface="+mn-ea"/>
          <a:cs typeface="+mn-cs"/>
        </a:defRPr>
      </a:lvl7pPr>
      <a:lvl8pPr marL="14401800" algn="l" defTabSz="4114800" rtl="0" eaLnBrk="1" latinLnBrk="0" hangingPunct="1">
        <a:defRPr sz="81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0" algn="l" defTabSz="4114800" rtl="0" eaLnBrk="1" latinLnBrk="0" hangingPunct="1">
        <a:defRPr sz="8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3E7CD5FA-A8BC-9420-EA14-8CE8C3909D7C}"/>
              </a:ext>
            </a:extLst>
          </p:cNvPr>
          <p:cNvSpPr/>
          <p:nvPr/>
        </p:nvSpPr>
        <p:spPr>
          <a:xfrm>
            <a:off x="27660877" y="28981725"/>
            <a:ext cx="12801600" cy="114675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BD084279-8328-9264-90D2-DD9F674CEA8B}"/>
              </a:ext>
            </a:extLst>
          </p:cNvPr>
          <p:cNvSpPr/>
          <p:nvPr/>
        </p:nvSpPr>
        <p:spPr>
          <a:xfrm>
            <a:off x="14230204" y="28981725"/>
            <a:ext cx="12801600" cy="1151699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FFF8C50D-3077-D785-C53D-8F02A6DE6423}"/>
              </a:ext>
            </a:extLst>
          </p:cNvPr>
          <p:cNvSpPr/>
          <p:nvPr/>
        </p:nvSpPr>
        <p:spPr>
          <a:xfrm>
            <a:off x="835991" y="29001129"/>
            <a:ext cx="12801600" cy="114675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F229B4-51EF-2823-51AE-4BEB6A00C1B6}"/>
              </a:ext>
            </a:extLst>
          </p:cNvPr>
          <p:cNvSpPr/>
          <p:nvPr/>
        </p:nvSpPr>
        <p:spPr>
          <a:xfrm>
            <a:off x="0" y="0"/>
            <a:ext cx="41148000" cy="548640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DD7BD3-06D9-0A75-01F3-A027080FF6C0}"/>
              </a:ext>
            </a:extLst>
          </p:cNvPr>
          <p:cNvSpPr txBox="1"/>
          <p:nvPr/>
        </p:nvSpPr>
        <p:spPr>
          <a:xfrm>
            <a:off x="5682344" y="457199"/>
            <a:ext cx="30958970" cy="321426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6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Spatial Clustering of Traumatic Experiences and Posttraumatic Stress Symptoms</a:t>
            </a:r>
          </a:p>
          <a:p>
            <a:pPr algn="ctr">
              <a:lnSpc>
                <a:spcPct val="150000"/>
              </a:lnSpc>
            </a:pPr>
            <a:r>
              <a:rPr lang="en-US" sz="5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Evidence from Hurricane-Exposed Adults in Florida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FCF545-E5EB-9B6F-6029-F68E5BF3E54F}"/>
              </a:ext>
            </a:extLst>
          </p:cNvPr>
          <p:cNvSpPr txBox="1"/>
          <p:nvPr/>
        </p:nvSpPr>
        <p:spPr>
          <a:xfrm>
            <a:off x="9999844" y="3431078"/>
            <a:ext cx="196922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Soheil Shapouri, Dana Rose Garfin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A0F463-63BB-CC1C-15FB-D40089E576C7}"/>
              </a:ext>
            </a:extLst>
          </p:cNvPr>
          <p:cNvSpPr txBox="1"/>
          <p:nvPr/>
        </p:nvSpPr>
        <p:spPr>
          <a:xfrm>
            <a:off x="10866529" y="4578100"/>
            <a:ext cx="179451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Fielding School of Public Health, UCLA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73B555-2513-4E26-FBE3-82ECB02F37DB}"/>
              </a:ext>
            </a:extLst>
          </p:cNvPr>
          <p:cNvSpPr/>
          <p:nvPr/>
        </p:nvSpPr>
        <p:spPr>
          <a:xfrm>
            <a:off x="359228" y="5943598"/>
            <a:ext cx="9633857" cy="2250235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091FB0-87A9-2513-EF5B-83DBA3AA2991}"/>
              </a:ext>
            </a:extLst>
          </p:cNvPr>
          <p:cNvSpPr/>
          <p:nvPr/>
        </p:nvSpPr>
        <p:spPr>
          <a:xfrm>
            <a:off x="10515600" y="5943598"/>
            <a:ext cx="20116800" cy="22502359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656F2B-A865-4734-7B5A-AE4711FF10C1}"/>
              </a:ext>
            </a:extLst>
          </p:cNvPr>
          <p:cNvSpPr/>
          <p:nvPr/>
        </p:nvSpPr>
        <p:spPr>
          <a:xfrm>
            <a:off x="31279011" y="5943598"/>
            <a:ext cx="9509760" cy="224829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499246-FB83-F0F9-7C3B-E338C03C6DF4}"/>
              </a:ext>
            </a:extLst>
          </p:cNvPr>
          <p:cNvSpPr txBox="1"/>
          <p:nvPr/>
        </p:nvSpPr>
        <p:spPr>
          <a:xfrm>
            <a:off x="803366" y="6242164"/>
            <a:ext cx="8621486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dirty="0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</a:p>
          <a:p>
            <a:endParaRPr 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5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Hurricanes produce geographic hotspots of physical destruction and human exposure. Whether these spatial patterns extend to posttraumatic stress symptoms (PTS)  remains unclear.</a:t>
            </a:r>
            <a:endParaRPr lang="en-US" sz="3500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422BCA-6D29-F9A4-6DBB-2B5B4539ED24}"/>
              </a:ext>
            </a:extLst>
          </p:cNvPr>
          <p:cNvSpPr txBox="1"/>
          <p:nvPr/>
        </p:nvSpPr>
        <p:spPr>
          <a:xfrm>
            <a:off x="803366" y="10246180"/>
            <a:ext cx="8621486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dirty="0"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</a:p>
          <a:p>
            <a:endParaRPr lang="en-US" sz="3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Examine whether hurricane exposure and PTS symptoms show spatial clustering across Florida.</a:t>
            </a:r>
            <a:endParaRPr lang="en-US" sz="3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1C7CCD-806F-0353-E906-4119F7B95C88}"/>
              </a:ext>
            </a:extLst>
          </p:cNvPr>
          <p:cNvSpPr txBox="1"/>
          <p:nvPr/>
        </p:nvSpPr>
        <p:spPr>
          <a:xfrm>
            <a:off x="803366" y="13529825"/>
            <a:ext cx="8621486" cy="1557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dirty="0">
                <a:latin typeface="Arial" panose="020B0604020202020204" pitchFamily="34" charset="0"/>
                <a:cs typeface="Arial" panose="020B0604020202020204" pitchFamily="34" charset="0"/>
              </a:rPr>
              <a:t>Method</a:t>
            </a:r>
            <a:r>
              <a:rPr lang="en-US" sz="3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sz="3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Participants and procedure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Probability-based sample of 1,052 Florida adults from Ipsos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KnowledgePanel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; data collected April 30–May 19, 2025.</a:t>
            </a:r>
          </a:p>
          <a:p>
            <a:endParaRPr lang="en-US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Measures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Hurricane exposure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: 10 yes/no prior hurricane experiences (e.g., evacuation, property damage, injury) summed into a cumulative exposure score.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PTS symptoms: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Five hurricane-related symptoms rated 0 (</a:t>
            </a:r>
            <a:r>
              <a:rPr lang="en-US" sz="3500" i="1" dirty="0">
                <a:latin typeface="Arial" panose="020B0604020202020204" pitchFamily="34" charset="0"/>
                <a:cs typeface="Arial" panose="020B0604020202020204" pitchFamily="34" charset="0"/>
              </a:rPr>
              <a:t>never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)–4 (</a:t>
            </a:r>
            <a:r>
              <a:rPr lang="en-US" sz="3500" i="1" dirty="0">
                <a:latin typeface="Arial" panose="020B0604020202020204" pitchFamily="34" charset="0"/>
                <a:cs typeface="Arial" panose="020B0604020202020204" pitchFamily="34" charset="0"/>
              </a:rPr>
              <a:t>all the time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) and averaged (modified PC-PTSD-5)</a:t>
            </a:r>
          </a:p>
          <a:p>
            <a:endParaRPr lang="en-US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Spatial Analysis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Spatial neighbors defined using 8-nearest neighbors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Global Moran’s I assessed spatial autocorrelation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LISA (Local Indicators of Spatial Association) identified local hurricane-exposure clusters</a:t>
            </a:r>
          </a:p>
          <a:p>
            <a:endParaRPr lang="en-US" sz="3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37088F-B576-16D3-7DCD-4A205AA998DB}"/>
              </a:ext>
            </a:extLst>
          </p:cNvPr>
          <p:cNvSpPr txBox="1"/>
          <p:nvPr/>
        </p:nvSpPr>
        <p:spPr>
          <a:xfrm>
            <a:off x="12801600" y="6498770"/>
            <a:ext cx="15479486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Hurricane exposure </a:t>
            </a:r>
          </a:p>
          <a:p>
            <a:pPr algn="ctr"/>
            <a:r>
              <a:rPr lang="en-US" sz="7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clusters geographically.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A78F28-060B-4D0C-E871-7D302C88F0D1}"/>
              </a:ext>
            </a:extLst>
          </p:cNvPr>
          <p:cNvSpPr txBox="1"/>
          <p:nvPr/>
        </p:nvSpPr>
        <p:spPr>
          <a:xfrm>
            <a:off x="14303827" y="9992228"/>
            <a:ext cx="1201782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PTS symptoms do not. 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07D9911-152B-09A7-AAD1-BEF21158D2CD}"/>
              </a:ext>
            </a:extLst>
          </p:cNvPr>
          <p:cNvSpPr/>
          <p:nvPr/>
        </p:nvSpPr>
        <p:spPr>
          <a:xfrm>
            <a:off x="11756571" y="19992188"/>
            <a:ext cx="17471571" cy="764177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6A64B1-CB08-B4DD-0E5B-76AA320F2A85}"/>
              </a:ext>
            </a:extLst>
          </p:cNvPr>
          <p:cNvSpPr txBox="1"/>
          <p:nvPr/>
        </p:nvSpPr>
        <p:spPr>
          <a:xfrm>
            <a:off x="12933648" y="20822575"/>
            <a:ext cx="690543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Hurricane Exposure </a:t>
            </a:r>
          </a:p>
          <a:p>
            <a:pPr algn="ctr"/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3900" b="1" dirty="0">
                <a:latin typeface="Arial" panose="020B0604020202020204" pitchFamily="34" charset="0"/>
                <a:cs typeface="Arial" panose="020B0604020202020204" pitchFamily="34" charset="0"/>
              </a:rPr>
              <a:t>Global Moran’s I = 0.11</a:t>
            </a:r>
          </a:p>
          <a:p>
            <a:pPr algn="ctr"/>
            <a:endParaRPr lang="en-US" sz="3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3900" b="1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3900" b="1" dirty="0">
                <a:latin typeface="Arial" panose="020B0604020202020204" pitchFamily="34" charset="0"/>
                <a:cs typeface="Arial" panose="020B0604020202020204" pitchFamily="34" charset="0"/>
              </a:rPr>
              <a:t> &lt; .001</a:t>
            </a:r>
          </a:p>
          <a:p>
            <a:pPr algn="ctr"/>
            <a:endParaRPr lang="en-US" sz="3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3900" b="1" dirty="0">
                <a:latin typeface="Arial" panose="020B0604020202020204" pitchFamily="34" charset="0"/>
                <a:cs typeface="Arial" panose="020B0604020202020204" pitchFamily="34" charset="0"/>
              </a:rPr>
              <a:t>Significant positive spatial autocorrelation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29800A-1EC9-7E21-B471-849B2CBF2F4E}"/>
              </a:ext>
            </a:extLst>
          </p:cNvPr>
          <p:cNvSpPr txBox="1"/>
          <p:nvPr/>
        </p:nvSpPr>
        <p:spPr>
          <a:xfrm>
            <a:off x="21150638" y="20822575"/>
            <a:ext cx="651023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PTS symptoms</a:t>
            </a:r>
          </a:p>
          <a:p>
            <a:pPr algn="ctr"/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3900" b="1" dirty="0">
                <a:latin typeface="Arial" panose="020B0604020202020204" pitchFamily="34" charset="0"/>
                <a:cs typeface="Arial" panose="020B0604020202020204" pitchFamily="34" charset="0"/>
              </a:rPr>
              <a:t>Global Moran’s I = -0.001</a:t>
            </a:r>
          </a:p>
          <a:p>
            <a:pPr algn="ctr"/>
            <a:endParaRPr lang="en-US" sz="3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3900" b="1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3900" b="1" dirty="0">
                <a:latin typeface="Arial" panose="020B0604020202020204" pitchFamily="34" charset="0"/>
                <a:cs typeface="Arial" panose="020B0604020202020204" pitchFamily="34" charset="0"/>
              </a:rPr>
              <a:t> = .51</a:t>
            </a:r>
          </a:p>
          <a:p>
            <a:pPr algn="ctr"/>
            <a:endParaRPr lang="en-US" sz="3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3900" b="1" dirty="0">
                <a:latin typeface="Arial" panose="020B0604020202020204" pitchFamily="34" charset="0"/>
                <a:cs typeface="Arial" panose="020B0604020202020204" pitchFamily="34" charset="0"/>
              </a:rPr>
              <a:t>No evidence of spatial autocorrelation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90243D4-2A89-4C8E-A2E7-A1B1E5441A51}"/>
              </a:ext>
            </a:extLst>
          </p:cNvPr>
          <p:cNvCxnSpPr>
            <a:cxnSpLocks/>
          </p:cNvCxnSpPr>
          <p:nvPr/>
        </p:nvCxnSpPr>
        <p:spPr>
          <a:xfrm>
            <a:off x="20345398" y="21240387"/>
            <a:ext cx="0" cy="504902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2CC7B10-9E9B-E7BA-9587-802D843E7F9A}"/>
              </a:ext>
            </a:extLst>
          </p:cNvPr>
          <p:cNvCxnSpPr/>
          <p:nvPr/>
        </p:nvCxnSpPr>
        <p:spPr>
          <a:xfrm>
            <a:off x="14712041" y="9513061"/>
            <a:ext cx="1124712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2543075-E45B-43FC-BEC2-FB66869C312B}"/>
              </a:ext>
            </a:extLst>
          </p:cNvPr>
          <p:cNvSpPr txBox="1"/>
          <p:nvPr/>
        </p:nvSpPr>
        <p:spPr>
          <a:xfrm>
            <a:off x="31723148" y="6242164"/>
            <a:ext cx="8621486" cy="1824012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800" b="1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endParaRPr lang="en-US" sz="3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Descriptive Statistics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Participants were 18–99 years old (</a:t>
            </a:r>
            <a:r>
              <a:rPr lang="en-US" sz="3500" i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= 62.7, </a:t>
            </a:r>
            <a:r>
              <a:rPr lang="en-US" sz="3500" i="1" dirty="0">
                <a:latin typeface="Arial" panose="020B0604020202020204" pitchFamily="34" charset="0"/>
                <a:cs typeface="Arial" panose="020B0604020202020204" pitchFamily="34" charset="0"/>
              </a:rPr>
              <a:t>SD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= 14.36).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51.0% bachelor’s degree or above, 32.3% some college, 14.7% high school, and 1.9% less than high school.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59.1% were female and 40.9% male.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80.8% were White, 10.2% Hispanic, 6.4% Black, 1.4% multiracial, and 1.2% other race.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Hurricane exposure was spatially clustered, Global Moran’s </a:t>
            </a:r>
            <a:r>
              <a:rPr lang="en-US" sz="3500" i="1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= .11, </a:t>
            </a:r>
            <a:r>
              <a:rPr lang="en-US" sz="35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&lt; .001. Participants with similar levels of hurricane exposure tended to live near one another.</a:t>
            </a:r>
          </a:p>
          <a:p>
            <a:pPr>
              <a:lnSpc>
                <a:spcPct val="150000"/>
              </a:lnSpc>
            </a:pPr>
            <a:endParaRPr lang="en-US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PTS symptoms were not spatially clustered, Global Moran’s </a:t>
            </a:r>
            <a:r>
              <a:rPr lang="en-US" sz="3500" i="1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= −.001, </a:t>
            </a:r>
            <a:r>
              <a:rPr lang="en-US" sz="35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= .51. Participants with similar levels of PTS symptoms did not tend to live near one another.</a:t>
            </a:r>
          </a:p>
          <a:p>
            <a:endParaRPr lang="en-US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Greater hurricane exposure was associated with greater PTS symptoms, </a:t>
            </a:r>
            <a:r>
              <a:rPr lang="en-US" sz="3500" i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= .24, 95% CI [.19, .30], </a:t>
            </a:r>
            <a:r>
              <a:rPr lang="en-US" sz="35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&lt; .001. Thus, exposure and PTS were associated at the individual level, despite showing different patterns of geographic clustering.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8DF223B-7A0C-FFCD-5CA9-8D5114E64AB0}"/>
              </a:ext>
            </a:extLst>
          </p:cNvPr>
          <p:cNvSpPr txBox="1"/>
          <p:nvPr/>
        </p:nvSpPr>
        <p:spPr>
          <a:xfrm>
            <a:off x="31809477" y="24198985"/>
            <a:ext cx="8621486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dirty="0">
                <a:latin typeface="Arial" panose="020B0604020202020204" pitchFamily="34" charset="0"/>
                <a:cs typeface="Arial" panose="020B0604020202020204" pitchFamily="34" charset="0"/>
              </a:rPr>
              <a:t>Take-home message</a:t>
            </a:r>
          </a:p>
          <a:p>
            <a:endParaRPr 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Hurricane exposure forms geographic hotspots, but PTS symptoms do not; highlighting the need for geographically broad mental health screening beyond areas of greatest hurricane exposure.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EFA270BD-DB0F-3D05-9B91-198F3CD82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379" y="30298683"/>
            <a:ext cx="10964983" cy="841248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07FDA842-DD17-006A-9262-6D7289370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17836" y="30298683"/>
            <a:ext cx="11207341" cy="8492635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4D1C98E-685D-3406-6E3E-DF5223D9E8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81080" y="30362068"/>
            <a:ext cx="11553626" cy="841248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50CC3F7-E2B6-23A4-AABE-4FC79B5543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228" y="2064330"/>
            <a:ext cx="3703319" cy="121097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12CA2D4-C91A-0BA1-F2EA-EC68631C5AB5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5027" y="10996931"/>
            <a:ext cx="14630400" cy="9753600"/>
          </a:xfrm>
          <a:prstGeom prst="rect">
            <a:avLst/>
          </a:prstGeom>
        </p:spPr>
      </p:pic>
      <p:sp>
        <p:nvSpPr>
          <p:cNvPr id="91" name="Rectangle 90">
            <a:extLst>
              <a:ext uri="{FF2B5EF4-FFF2-40B4-BE49-F238E27FC236}">
                <a16:creationId xmlns:a16="http://schemas.microsoft.com/office/drawing/2014/main" id="{F527BEFF-5AE6-8C15-F756-81A65D9BADD2}"/>
              </a:ext>
            </a:extLst>
          </p:cNvPr>
          <p:cNvSpPr/>
          <p:nvPr/>
        </p:nvSpPr>
        <p:spPr>
          <a:xfrm>
            <a:off x="27660877" y="28954940"/>
            <a:ext cx="12801600" cy="116970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4C56809D-8A85-F45F-A434-32A79F09D021}"/>
              </a:ext>
            </a:extLst>
          </p:cNvPr>
          <p:cNvSpPr/>
          <p:nvPr/>
        </p:nvSpPr>
        <p:spPr>
          <a:xfrm>
            <a:off x="14230204" y="28985053"/>
            <a:ext cx="12801600" cy="116970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6DFC115-363A-7D1F-D406-3CCB88DBAA5E}"/>
              </a:ext>
            </a:extLst>
          </p:cNvPr>
          <p:cNvSpPr/>
          <p:nvPr/>
        </p:nvSpPr>
        <p:spPr>
          <a:xfrm>
            <a:off x="835991" y="28981725"/>
            <a:ext cx="12801600" cy="116970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4814037-CFF8-F14E-64A4-2C708E65F1F1}"/>
              </a:ext>
            </a:extLst>
          </p:cNvPr>
          <p:cNvSpPr txBox="1"/>
          <p:nvPr/>
        </p:nvSpPr>
        <p:spPr>
          <a:xfrm>
            <a:off x="2124209" y="29205509"/>
            <a:ext cx="912767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Hurricane Exposure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8B9DE68-02D5-693E-CAAA-90EF3611EAE9}"/>
              </a:ext>
            </a:extLst>
          </p:cNvPr>
          <p:cNvSpPr txBox="1"/>
          <p:nvPr/>
        </p:nvSpPr>
        <p:spPr>
          <a:xfrm>
            <a:off x="15806056" y="29197492"/>
            <a:ext cx="93726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PTS Symptoms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4EEBD62-2738-586B-6381-FAB5E7B24A72}"/>
              </a:ext>
            </a:extLst>
          </p:cNvPr>
          <p:cNvSpPr txBox="1"/>
          <p:nvPr/>
        </p:nvSpPr>
        <p:spPr>
          <a:xfrm>
            <a:off x="29692102" y="29220420"/>
            <a:ext cx="93726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Hurricane Exposure Clusters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804C660D-D833-F6AB-17A9-D58E7F352B90}"/>
              </a:ext>
            </a:extLst>
          </p:cNvPr>
          <p:cNvSpPr/>
          <p:nvPr/>
        </p:nvSpPr>
        <p:spPr>
          <a:xfrm>
            <a:off x="826079" y="38841593"/>
            <a:ext cx="12801600" cy="165713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08D4210-19E2-7913-0877-8C5EE995FB15}"/>
              </a:ext>
            </a:extLst>
          </p:cNvPr>
          <p:cNvSpPr/>
          <p:nvPr/>
        </p:nvSpPr>
        <p:spPr>
          <a:xfrm>
            <a:off x="27679107" y="38860996"/>
            <a:ext cx="12801600" cy="1607668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F0F162B3-2BED-1FD3-96A8-29B484B169B7}"/>
              </a:ext>
            </a:extLst>
          </p:cNvPr>
          <p:cNvSpPr/>
          <p:nvPr/>
        </p:nvSpPr>
        <p:spPr>
          <a:xfrm>
            <a:off x="14227173" y="38891055"/>
            <a:ext cx="12801600" cy="1607668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6C800F-D692-6EB1-B7C5-5C9ADA27D3DE}"/>
              </a:ext>
            </a:extLst>
          </p:cNvPr>
          <p:cNvSpPr txBox="1"/>
          <p:nvPr/>
        </p:nvSpPr>
        <p:spPr>
          <a:xfrm>
            <a:off x="2361437" y="39211195"/>
            <a:ext cx="92883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point represents a participant.</a:t>
            </a:r>
          </a:p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Color indicates cumulative hurricane exposure (0–7).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40FFEC-4CBE-613B-D2DE-F643E82E4538}"/>
              </a:ext>
            </a:extLst>
          </p:cNvPr>
          <p:cNvSpPr txBox="1"/>
          <p:nvPr/>
        </p:nvSpPr>
        <p:spPr>
          <a:xfrm>
            <a:off x="17215707" y="39211195"/>
            <a:ext cx="92883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point represents a participant.</a:t>
            </a:r>
          </a:p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Color indicates PTS symptom severity.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089803-9EC6-405E-D848-51ED9F8FEAA4}"/>
              </a:ext>
            </a:extLst>
          </p:cNvPr>
          <p:cNvSpPr txBox="1"/>
          <p:nvPr/>
        </p:nvSpPr>
        <p:spPr>
          <a:xfrm>
            <a:off x="27697337" y="39180492"/>
            <a:ext cx="126245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High-exposure participants surrounded by other high-exposure participants</a:t>
            </a:r>
          </a:p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Low-exposure participants surrounded by other low-exposure participants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36D401C-4EAF-6A53-EC7F-00E17D8419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0618" y="1249947"/>
            <a:ext cx="3328153" cy="332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258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3494</TotalTime>
  <Words>487</Words>
  <Application>Microsoft Office PowerPoint</Application>
  <PresentationFormat>Custom</PresentationFormat>
  <Paragraphs>69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Soheil Shapouri</dc:creator>
  <cp:lastModifiedBy>Soheil Shapouri</cp:lastModifiedBy>
  <cp:revision>16</cp:revision>
  <dcterms:created xsi:type="dcterms:W3CDTF">2026-09-06T21:17:15Z</dcterms:created>
  <dcterms:modified xsi:type="dcterms:W3CDTF">2026-09-12T01:20:27Z</dcterms:modified>
</cp:coreProperties>
</file>