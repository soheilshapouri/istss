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9" r:id="rId7"/>
    <p:sldId id="265" r:id="rId8"/>
    <p:sldId id="291" r:id="rId9"/>
    <p:sldId id="292" r:id="rId10"/>
    <p:sldId id="293" r:id="rId11"/>
    <p:sldId id="300" r:id="rId12"/>
    <p:sldId id="271" r:id="rId13"/>
    <p:sldId id="294" r:id="rId14"/>
    <p:sldId id="295" r:id="rId15"/>
    <p:sldId id="296" r:id="rId16"/>
    <p:sldId id="279" r:id="rId17"/>
    <p:sldId id="281" r:id="rId18"/>
    <p:sldId id="282" r:id="rId19"/>
    <p:sldId id="283" r:id="rId20"/>
    <p:sldId id="289" r:id="rId21"/>
    <p:sldId id="298" r:id="rId22"/>
    <p:sldId id="285" r:id="rId23"/>
    <p:sldId id="286" r:id="rId24"/>
    <p:sldId id="287" r:id="rId25"/>
    <p:sldId id="299" r:id="rId26"/>
    <p:sldId id="288" r:id="rId27"/>
    <p:sldId id="290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9538"/>
    <a:srgbClr val="404450"/>
    <a:srgbClr val="E3E9ED"/>
    <a:srgbClr val="AE8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919D0-9672-3B54-444D-474231CC376B}" v="27" dt="2026-05-05T17:49:24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72871" autoAdjust="0"/>
  </p:normalViewPr>
  <p:slideViewPr>
    <p:cSldViewPr snapToGrid="0">
      <p:cViewPr>
        <p:scale>
          <a:sx n="50" d="100"/>
          <a:sy n="50" d="100"/>
        </p:scale>
        <p:origin x="12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Evans" userId="S::levans@parthenonmgmt.com::502e5b7e-0522-4e8f-98b1-099491360ecc" providerId="AD" clId="Web-{10A919D0-9672-3B54-444D-474231CC376B}"/>
    <pc:docChg chg="modSld">
      <pc:chgData name="Laura Evans" userId="S::levans@parthenonmgmt.com::502e5b7e-0522-4e8f-98b1-099491360ecc" providerId="AD" clId="Web-{10A919D0-9672-3B54-444D-474231CC376B}" dt="2026-05-05T17:49:24.769" v="29" actId="1076"/>
      <pc:docMkLst>
        <pc:docMk/>
      </pc:docMkLst>
      <pc:sldChg chg="modSp">
        <pc:chgData name="Laura Evans" userId="S::levans@parthenonmgmt.com::502e5b7e-0522-4e8f-98b1-099491360ecc" providerId="AD" clId="Web-{10A919D0-9672-3B54-444D-474231CC376B}" dt="2026-05-05T17:47:32.081" v="6" actId="20577"/>
        <pc:sldMkLst>
          <pc:docMk/>
          <pc:sldMk cId="1804320558" sldId="256"/>
        </pc:sldMkLst>
        <pc:spChg chg="mod">
          <ac:chgData name="Laura Evans" userId="S::levans@parthenonmgmt.com::502e5b7e-0522-4e8f-98b1-099491360ecc" providerId="AD" clId="Web-{10A919D0-9672-3B54-444D-474231CC376B}" dt="2026-05-05T17:47:32.081" v="6" actId="20577"/>
          <ac:spMkLst>
            <pc:docMk/>
            <pc:sldMk cId="1804320558" sldId="256"/>
            <ac:spMk id="2" creationId="{125018A9-85F0-3BCF-08E3-53242BED322C}"/>
          </ac:spMkLst>
        </pc:spChg>
      </pc:sldChg>
      <pc:sldChg chg="modSp">
        <pc:chgData name="Laura Evans" userId="S::levans@parthenonmgmt.com::502e5b7e-0522-4e8f-98b1-099491360ecc" providerId="AD" clId="Web-{10A919D0-9672-3B54-444D-474231CC376B}" dt="2026-05-05T17:49:24.769" v="29" actId="1076"/>
        <pc:sldMkLst>
          <pc:docMk/>
          <pc:sldMk cId="1217370416" sldId="257"/>
        </pc:sldMkLst>
        <pc:spChg chg="mod">
          <ac:chgData name="Laura Evans" userId="S::levans@parthenonmgmt.com::502e5b7e-0522-4e8f-98b1-099491360ecc" providerId="AD" clId="Web-{10A919D0-9672-3B54-444D-474231CC376B}" dt="2026-05-05T17:49:20.847" v="28" actId="1076"/>
          <ac:spMkLst>
            <pc:docMk/>
            <pc:sldMk cId="1217370416" sldId="257"/>
            <ac:spMk id="2" creationId="{8541808E-CCF4-3463-2FDA-3BA4D8F6B1F1}"/>
          </ac:spMkLst>
        </pc:spChg>
        <pc:spChg chg="mod">
          <ac:chgData name="Laura Evans" userId="S::levans@parthenonmgmt.com::502e5b7e-0522-4e8f-98b1-099491360ecc" providerId="AD" clId="Web-{10A919D0-9672-3B54-444D-474231CC376B}" dt="2026-05-05T17:49:24.769" v="29" actId="1076"/>
          <ac:spMkLst>
            <pc:docMk/>
            <pc:sldMk cId="1217370416" sldId="257"/>
            <ac:spMk id="3" creationId="{D81E43C8-B81F-911F-DFA1-9067AA2E8A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32582-0ED2-4F98-B71A-E1717B239FC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3E50C-73C4-4028-A7C0-C9AD26FED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8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0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82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262E-4F37-DCBA-01A8-4E478FEB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682F2-E870-0DA2-507C-F2CAD5A7D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A99FD-A9FA-F107-5F85-E66161CB0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BD42C-36E2-0DA6-7048-FAB57B21D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87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58006-0535-52C8-39D4-85C8960F4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3756E-5C95-9991-AADB-E7E9B6B21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9C223-BB4D-831F-E4BE-433CC672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572DE-267A-BD13-6F16-41F9EF3C2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7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86B38-A6D8-5D26-C14F-A789A0E6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B1656-1E9F-B6E3-41F3-C06FBCE09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5281C-1740-F666-F1A7-539F8DCFD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891FC-65E5-FEED-D6C0-D129664FF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70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757D-5A33-0E8F-1F8C-2668FC8B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9D370-7EB8-543B-CB9E-F0B047F89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770B87-27E8-E9CF-53BC-8D6DBD5DC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C395D-56B9-0075-82C3-7149DFF4F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75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52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6793C-744B-5C94-FB38-5B6E63F6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D607C-A3DC-E193-9837-37CB69E08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55E51-2D5F-F2DB-30B2-9BCD4D39A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1157-6707-1670-B281-015F69D7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14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5656-A5A3-5D32-CE4F-58C57AB7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BD289-FDEB-77E0-63AA-7D0F5267B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7E9FF-FB33-5C29-0CA8-35004CA69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C386-E9B9-FD2A-1B82-7A3BD593A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10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7E62-2458-50DF-D40F-C4BECF3DA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708E4-C17A-F785-3075-F813E1728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E64D2-630E-9147-1C9F-BBB26C48F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8407D-6381-2793-2C6D-275226FE7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13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87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80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0509-52FB-F074-7378-2AC32D7B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D0191-859F-0F52-63F5-E6D8A15F9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C64C5-4623-8379-A243-8F7C6AA9A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94DD1-328E-FBC5-D0D9-57A14997E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7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68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EF4C-14BE-9952-7E96-24F61BD5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41B09-68A2-29D1-6759-104A22A9C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88087-5056-9BED-3B6D-C8277B80C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4F9A4-8F5A-C48B-5663-7801411AA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85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650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3E50C-73C4-4028-A7C0-C9AD26FED9F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8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2F07-ACD0-46D7-5BFB-BAA0E7043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8877-66BE-034D-D927-46D0CFC5C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59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7AD1-73C4-45F4-685A-791D9BA0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16B9-DA0F-8DBB-30CF-93F515B6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0061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9D04-BFB6-D2BC-915D-4141F304F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06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BB4D8-C7D6-5799-D878-9127D9450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3941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844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1E00-535F-7798-D7B7-5A0785FC9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184D3-E0CB-B543-4600-1FE46236B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E7A3A4-39DD-E060-BF11-48F06EAC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729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8F22-5587-8C51-9F26-1E85693E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4F101-494F-5244-4B75-4BC8C06B7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A9443-1733-8D80-2317-10C962795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EE2E3-1BBA-B796-F81E-702496D22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D05EE-EFD6-E52C-CC7B-97E1B68F7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394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998D-6DCB-8761-7948-816D8008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705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95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78FD-4F04-A735-7227-DD9D0C87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ADDE-A346-86EE-C54B-288C8AFFE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005A3-29D6-AA06-6647-2698D53E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9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1318-1CBF-6DBA-89C5-EB895780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2C6D3-53AB-5EF9-3972-451B42059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AF908-CEBB-39F5-AB46-A54554EF4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971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6688-A6E8-DA47-A8C6-286905CD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F5354-8E45-2730-2ADA-A07632389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887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12CACC-1178-676F-DA41-87E1A8685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34D08-8B2B-9DEF-6A0A-537FAE2CE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06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5FE3E-9707-5232-D1A7-10EE269B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27243-EF1D-5BAF-7E5C-54B7AE289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649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84287B-6559-A465-496C-E35FF79B2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7200"/>
            <a:ext cx="10515600" cy="1028700"/>
          </a:xfrm>
        </p:spPr>
        <p:txBody>
          <a:bodyPr>
            <a:noAutofit/>
          </a:bodyPr>
          <a:lstStyle/>
          <a:p>
            <a:pPr>
              <a:defRPr sz="36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Burn and Blame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D59456-3F81-F12A-4E80-3BCB42DC995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382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30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Perceived wildfire causation and</a:t>
            </a:r>
          </a:p>
          <a:p>
            <a:pPr>
              <a:defRPr sz="30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30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posttraumatic stress symptoms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1092D6-F0D5-21AD-620D-85101EC4D880}"/>
              </a:ext>
            </a:extLst>
          </p:cNvPr>
          <p:cNvSpPr>
            <a:spLocks noGrp="1"/>
          </p:cNvSpPr>
          <p:nvPr/>
        </p:nvSpPr>
        <p:spPr>
          <a:xfrm>
            <a:off x="838200" y="29622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Soheil Shapouri, Rachel Connolly, Claire Bekker,</a:t>
            </a:r>
          </a:p>
          <a:p>
            <a:pPr>
              <a:defRPr sz="2025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David Eisenman, Miriam Marlier, Dana Rose Garfin</a:t>
            </a:r>
            <a:endParaRPr sz="2800" b="0" dirty="0">
              <a:solidFill>
                <a:srgbClr val="FF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4332B-AAEB-2C7C-9C7B-B2F725B2A181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University of California, Los Angeles</a:t>
            </a:r>
          </a:p>
        </p:txBody>
      </p:sp>
    </p:spTree>
    <p:extLst>
      <p:ext uri="{BB962C8B-B14F-4D97-AF65-F5344CB8AC3E}">
        <p14:creationId xmlns:p14="http://schemas.microsoft.com/office/powerpoint/2010/main" val="180432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738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CME financial disclosure</a:t>
            </a:r>
            <a:endParaRPr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00F9F8-7FCA-4437-9AA2-F15AE643B7D3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1038225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In the past 24 months, I, Soheil Shapouri, have not had financial relationships with any ineligible companies.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E7987-8084-405A-AF10-5D319008B1C5}"/>
              </a:ext>
            </a:extLst>
          </p:cNvPr>
          <p:cNvSpPr>
            <a:spLocks noGrp="1"/>
          </p:cNvSpPr>
          <p:nvPr/>
        </p:nvSpPr>
        <p:spPr>
          <a:xfrm>
            <a:off x="838200" y="3876675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99538"/>
                </a:solidFill>
                <a:latin typeface="Aptos"/>
                <a:ea typeface="Aptos"/>
                <a:cs typeface="Aptos"/>
              </a:rPr>
              <a:t>Research support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5BC18-AAE4-498E-85D1-F3AB816CB261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10287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National Center for Advancing Translational Science (NCATS), NIH</a:t>
            </a:r>
          </a:p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UCLA Clinical and Translational Science Institute</a:t>
            </a:r>
          </a:p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Grant UL1TR001881</a:t>
            </a:r>
          </a:p>
        </p:txBody>
      </p:sp>
    </p:spTree>
    <p:extLst>
      <p:ext uri="{BB962C8B-B14F-4D97-AF65-F5344CB8AC3E}">
        <p14:creationId xmlns:p14="http://schemas.microsoft.com/office/powerpoint/2010/main" val="2507573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8DB0-986B-7861-8922-B07C0C17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154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Disasters and Mental health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47DA4-D49C-ABA0-A507-F7408FB2A5FD}"/>
              </a:ext>
            </a:extLst>
          </p:cNvPr>
          <p:cNvSpPr txBox="1"/>
          <p:nvPr/>
        </p:nvSpPr>
        <p:spPr>
          <a:xfrm>
            <a:off x="6491902" y="1201453"/>
            <a:ext cx="4709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Eight times greater odds of probable PTSD and depression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(Mulchandani et al., 2020)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Even 8 – 10 months after disasters, higher rates of depression, anxiety, and PTSD 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(Gökkaya et al., 2025)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C604B-1D26-0AC3-112F-E1CAE7E8D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356" y="1357884"/>
            <a:ext cx="6213348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8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820F6-DABF-C5F5-0394-3E0A39118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ED60B-D984-492A-A1C0-8791574D6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332654"/>
            <a:ext cx="3932237" cy="3811588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Demographics</a:t>
            </a:r>
          </a:p>
          <a:p>
            <a:endParaRPr lang="en-US" sz="2800" dirty="0"/>
          </a:p>
          <a:p>
            <a:r>
              <a:rPr lang="en-US" sz="2800" dirty="0"/>
              <a:t>Exposure </a:t>
            </a:r>
          </a:p>
          <a:p>
            <a:endParaRPr lang="en-US" sz="2800" dirty="0"/>
          </a:p>
          <a:p>
            <a:r>
              <a:rPr lang="en-US" sz="2800" dirty="0"/>
              <a:t>Perceived cause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8630BB-467E-9DE8-9FD0-F16C156D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689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Disasters and Mental health </a:t>
            </a:r>
          </a:p>
        </p:txBody>
      </p:sp>
    </p:spTree>
    <p:extLst>
      <p:ext uri="{BB962C8B-B14F-4D97-AF65-F5344CB8AC3E}">
        <p14:creationId xmlns:p14="http://schemas.microsoft.com/office/powerpoint/2010/main" val="9599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ACEE-F7BB-0274-831D-85722CAF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ADD13-0B1A-0031-9349-3AD72F0C4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305560"/>
            <a:ext cx="3932237" cy="3811588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b="1" dirty="0"/>
              <a:t>Demographics</a:t>
            </a:r>
          </a:p>
          <a:p>
            <a:endParaRPr lang="en-US" sz="2800" dirty="0"/>
          </a:p>
          <a:p>
            <a:r>
              <a:rPr lang="en-US" sz="2800" dirty="0"/>
              <a:t>Exposure </a:t>
            </a:r>
          </a:p>
          <a:p>
            <a:endParaRPr lang="en-US" sz="2800" dirty="0"/>
          </a:p>
          <a:p>
            <a:r>
              <a:rPr lang="en-US" sz="2800" dirty="0"/>
              <a:t>Perceived cause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ECE087-08D5-EA41-FCCF-2051BE34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20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Disasters and Mental health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C1FF129-1909-C430-DEA7-21A783F26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1828" y="1773269"/>
            <a:ext cx="5780468" cy="3658267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sz="2800" b="1" dirty="0"/>
              <a:t>Age</a:t>
            </a:r>
            <a:r>
              <a:rPr lang="en-US" sz="2800" dirty="0"/>
              <a:t>: children and adolescents and adults over 65 being particularly vulnerable </a:t>
            </a:r>
          </a:p>
          <a:p>
            <a:pPr algn="r"/>
            <a:r>
              <a:rPr lang="en-US" sz="1800" dirty="0"/>
              <a:t>(Peek et al., 2017; Oh et al., 2025)</a:t>
            </a:r>
          </a:p>
        </p:txBody>
      </p:sp>
    </p:spTree>
    <p:extLst>
      <p:ext uri="{BB962C8B-B14F-4D97-AF65-F5344CB8AC3E}">
        <p14:creationId xmlns:p14="http://schemas.microsoft.com/office/powerpoint/2010/main" val="137976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039F-7B44-1A99-86A5-2760AA9C8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6ECD8-8A17-101E-5FDC-2CFB10E87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346200"/>
            <a:ext cx="3932237" cy="3811588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Demographics</a:t>
            </a:r>
          </a:p>
          <a:p>
            <a:endParaRPr lang="en-US" sz="2800" dirty="0"/>
          </a:p>
          <a:p>
            <a:r>
              <a:rPr lang="en-US" sz="2800" b="1" dirty="0"/>
              <a:t>Exposure</a:t>
            </a:r>
            <a:r>
              <a:rPr lang="en-US" sz="2800" dirty="0"/>
              <a:t> </a:t>
            </a:r>
          </a:p>
          <a:p>
            <a:endParaRPr lang="en-US" sz="2800" dirty="0"/>
          </a:p>
          <a:p>
            <a:r>
              <a:rPr lang="en-US" sz="2800" dirty="0"/>
              <a:t>Perceived cause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CFA31C-AB53-E583-59BD-37B5C0FE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15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Disasters and Mental health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EF90130-1D6A-E987-09DB-D9B640E9E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5668" y="1780614"/>
            <a:ext cx="7571232" cy="3658267"/>
          </a:xfrm>
        </p:spPr>
        <p:txBody>
          <a:bodyPr>
            <a:normAutofit/>
          </a:bodyPr>
          <a:lstStyle/>
          <a:p>
            <a:r>
              <a:rPr lang="en-US" sz="2800" b="1" dirty="0"/>
              <a:t>Direct exposure</a:t>
            </a:r>
            <a:r>
              <a:rPr lang="en-US" sz="2800" dirty="0"/>
              <a:t>(e.g., losing a loved one) </a:t>
            </a:r>
          </a:p>
          <a:p>
            <a:endParaRPr lang="en-US" sz="2800" dirty="0"/>
          </a:p>
          <a:p>
            <a:r>
              <a:rPr lang="en-US" sz="2800" b="1" dirty="0"/>
              <a:t>Proximate exposure</a:t>
            </a:r>
            <a:r>
              <a:rPr lang="en-US" sz="2800" dirty="0"/>
              <a:t>(e.g., damage to neighborhood assessed by number of FEMA claims)</a:t>
            </a:r>
          </a:p>
          <a:p>
            <a:endParaRPr lang="en-US" sz="2800" dirty="0"/>
          </a:p>
          <a:p>
            <a:r>
              <a:rPr lang="en-US" sz="2800" dirty="0"/>
              <a:t>Disaster-related </a:t>
            </a:r>
            <a:r>
              <a:rPr lang="en-US" sz="2800" b="1" dirty="0"/>
              <a:t>media exposure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F5C7D-CC95-BEB0-BFDC-F71B1CAFCD9C}"/>
              </a:ext>
            </a:extLst>
          </p:cNvPr>
          <p:cNvSpPr txBox="1"/>
          <p:nvPr/>
        </p:nvSpPr>
        <p:spPr>
          <a:xfrm>
            <a:off x="5134186" y="5157788"/>
            <a:ext cx="6495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(Garfin et al., 2022; Sackey et al., 2023; </a:t>
            </a:r>
            <a:r>
              <a:rPr lang="en-US" dirty="0" err="1">
                <a:solidFill>
                  <a:schemeClr val="bg1"/>
                </a:solidFill>
              </a:rPr>
              <a:t>Merdjanoff</a:t>
            </a:r>
            <a:r>
              <a:rPr lang="en-US" dirty="0">
                <a:solidFill>
                  <a:schemeClr val="bg1"/>
                </a:solidFill>
              </a:rPr>
              <a:t> et al., 2022)</a:t>
            </a:r>
          </a:p>
        </p:txBody>
      </p:sp>
    </p:spTree>
    <p:extLst>
      <p:ext uri="{BB962C8B-B14F-4D97-AF65-F5344CB8AC3E}">
        <p14:creationId xmlns:p14="http://schemas.microsoft.com/office/powerpoint/2010/main" val="90924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82C7-6266-3E22-284F-F72C9A06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6BCFE-54AC-0B4F-8D25-CF44DC661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426464"/>
            <a:ext cx="3932237" cy="3811588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Demographics</a:t>
            </a:r>
          </a:p>
          <a:p>
            <a:endParaRPr lang="en-US" sz="2800" dirty="0"/>
          </a:p>
          <a:p>
            <a:r>
              <a:rPr lang="en-US" sz="2800" dirty="0"/>
              <a:t>Exposure </a:t>
            </a:r>
          </a:p>
          <a:p>
            <a:endParaRPr lang="en-US" sz="2800" dirty="0"/>
          </a:p>
          <a:p>
            <a:r>
              <a:rPr lang="en-US" sz="2800" b="1" dirty="0"/>
              <a:t>Perceived cause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924A76-6589-72EC-001A-3D8CA6C8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20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Disasters and Mental health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BD16CC0-48FC-1376-C09C-5EC4A5FC7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97867" y="1773269"/>
            <a:ext cx="7999645" cy="3658267"/>
          </a:xfrm>
        </p:spPr>
        <p:txBody>
          <a:bodyPr>
            <a:normAutofit/>
          </a:bodyPr>
          <a:lstStyle/>
          <a:p>
            <a:endParaRPr lang="en-US" sz="2800" b="1" dirty="0"/>
          </a:p>
          <a:p>
            <a:pPr algn="ctr"/>
            <a:r>
              <a:rPr lang="en-US" sz="2800" dirty="0"/>
              <a:t>Natural </a:t>
            </a:r>
          </a:p>
          <a:p>
            <a:pPr algn="ctr"/>
            <a:r>
              <a:rPr lang="en-US" sz="2800" dirty="0"/>
              <a:t>or </a:t>
            </a:r>
          </a:p>
          <a:p>
            <a:pPr algn="ctr"/>
            <a:r>
              <a:rPr lang="en-US" sz="2800" dirty="0"/>
              <a:t>Human-made (technological)</a:t>
            </a:r>
          </a:p>
          <a:p>
            <a:pPr algn="ctr"/>
            <a:r>
              <a:rPr lang="en-US" sz="28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429059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01DA-181F-5FE2-01A4-94492D40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D6EA7-C813-1594-C690-0523BD32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630" y="1855892"/>
            <a:ext cx="3932237" cy="3334745"/>
          </a:xfrm>
        </p:spPr>
        <p:txBody>
          <a:bodyPr>
            <a:normAutofit/>
          </a:bodyPr>
          <a:lstStyle/>
          <a:p>
            <a:endParaRPr lang="en-US" sz="2800" dirty="0"/>
          </a:p>
          <a:p>
            <a:pPr algn="ctr"/>
            <a:r>
              <a:rPr lang="en-US" sz="2800" dirty="0"/>
              <a:t>Natural </a:t>
            </a:r>
          </a:p>
          <a:p>
            <a:pPr algn="ctr"/>
            <a:r>
              <a:rPr lang="en-US" sz="2800" dirty="0"/>
              <a:t>Vs </a:t>
            </a:r>
          </a:p>
          <a:p>
            <a:pPr algn="ctr"/>
            <a:r>
              <a:rPr lang="en-US" sz="2800" dirty="0"/>
              <a:t>Human-made </a:t>
            </a:r>
          </a:p>
          <a:p>
            <a:endParaRPr lang="en-US" sz="28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0C6F82-25F2-EA0A-9D24-9AED08BD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20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Disasters and Mental health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AADF236-CD9E-3FCE-B9BB-55C68B2C4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97867" y="2274495"/>
            <a:ext cx="7999645" cy="3658267"/>
          </a:xfrm>
        </p:spPr>
        <p:txBody>
          <a:bodyPr>
            <a:normAutofit/>
          </a:bodyPr>
          <a:lstStyle/>
          <a:p>
            <a:endParaRPr lang="en-US" sz="2800" b="1" dirty="0"/>
          </a:p>
          <a:p>
            <a:pPr algn="ctr"/>
            <a:r>
              <a:rPr lang="en-US" sz="2800" dirty="0"/>
              <a:t>Hurricane Harvey  as natural, human-made, or a combination of both </a:t>
            </a:r>
          </a:p>
          <a:p>
            <a:pPr algn="r"/>
            <a:r>
              <a:rPr lang="en-US" sz="1800" dirty="0"/>
              <a:t>(Slack et al., 2020)</a:t>
            </a:r>
          </a:p>
        </p:txBody>
      </p:sp>
    </p:spTree>
    <p:extLst>
      <p:ext uri="{BB962C8B-B14F-4D97-AF65-F5344CB8AC3E}">
        <p14:creationId xmlns:p14="http://schemas.microsoft.com/office/powerpoint/2010/main" val="407716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A760-AEFD-2E06-C7B0-071B9EFA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75BDF-CBED-6481-020A-F3111EF41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1801368"/>
            <a:ext cx="6808787" cy="3504057"/>
          </a:xfrm>
        </p:spPr>
        <p:txBody>
          <a:bodyPr>
            <a:normAutofit/>
          </a:bodyPr>
          <a:lstStyle/>
          <a:p>
            <a:r>
              <a:rPr lang="en-US" sz="2800" dirty="0"/>
              <a:t>Ancient threats (snakes and spiders)</a:t>
            </a:r>
          </a:p>
          <a:p>
            <a:endParaRPr lang="en-US" sz="2800" dirty="0"/>
          </a:p>
          <a:p>
            <a:pPr algn="ctr"/>
            <a:r>
              <a:rPr lang="en-US" sz="2800" dirty="0"/>
              <a:t>Vs</a:t>
            </a:r>
          </a:p>
          <a:p>
            <a:endParaRPr lang="en-US" sz="2800" dirty="0"/>
          </a:p>
          <a:p>
            <a:r>
              <a:rPr lang="en-US" sz="2800" dirty="0"/>
              <a:t>Modern threats (guns and bombs) </a:t>
            </a:r>
          </a:p>
          <a:p>
            <a:endParaRPr lang="en-US" sz="2800" dirty="0"/>
          </a:p>
          <a:p>
            <a:pPr algn="r"/>
            <a:r>
              <a:rPr lang="en-US" sz="1800" dirty="0"/>
              <a:t>(Shapouri &amp; Martin, 2022)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FA228-9F7B-7B5E-12E7-BFE92C438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038" y="3133725"/>
            <a:ext cx="3932237" cy="5905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AE8456"/>
                </a:solidFill>
              </a:rPr>
              <a:t>Evolutionary psychology </a:t>
            </a:r>
            <a:endParaRPr lang="en-US" sz="2800" b="1" dirty="0">
              <a:solidFill>
                <a:srgbClr val="AE845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C79CE6-0CF4-E419-0A49-2F8DD0EE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955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Natural vs. Human-made </a:t>
            </a:r>
          </a:p>
        </p:txBody>
      </p:sp>
    </p:spTree>
    <p:extLst>
      <p:ext uri="{BB962C8B-B14F-4D97-AF65-F5344CB8AC3E}">
        <p14:creationId xmlns:p14="http://schemas.microsoft.com/office/powerpoint/2010/main" val="201639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22B8-E02A-66EC-7538-ABBDB59E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F89DC-A05A-4B05-12CB-D93A4BAEF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1801368"/>
            <a:ext cx="6808787" cy="3504057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Ancient threats </a:t>
            </a:r>
            <a:r>
              <a:rPr lang="en-US" sz="2800" dirty="0">
                <a:sym typeface="Wingdings" panose="05000000000000000000" pitchFamily="2" charset="2"/>
              </a:rPr>
              <a:t> Amygdala</a:t>
            </a:r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Vs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Modern threats </a:t>
            </a:r>
            <a:r>
              <a:rPr lang="en-US" sz="2800" dirty="0">
                <a:sym typeface="Wingdings" panose="05000000000000000000" pitchFamily="2" charset="2"/>
              </a:rPr>
              <a:t> F</a:t>
            </a:r>
            <a:r>
              <a:rPr lang="en-US" sz="2800" dirty="0"/>
              <a:t>rontal cortex 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ACC3F-3016-EF8D-3776-A02BEF76C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038" y="3133725"/>
            <a:ext cx="3932237" cy="5905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AE8456"/>
                </a:solidFill>
              </a:rPr>
              <a:t>Evolutionary psychology </a:t>
            </a:r>
            <a:endParaRPr lang="en-US" sz="2800" b="1" dirty="0">
              <a:solidFill>
                <a:srgbClr val="AE845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AD47B1-1944-6CE3-2791-560E35FC6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182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Natural vs. Human-made </a:t>
            </a:r>
          </a:p>
        </p:txBody>
      </p:sp>
    </p:spTree>
    <p:extLst>
      <p:ext uri="{BB962C8B-B14F-4D97-AF65-F5344CB8AC3E}">
        <p14:creationId xmlns:p14="http://schemas.microsoft.com/office/powerpoint/2010/main" val="25846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6871-324B-A816-A7BF-7BE074BF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D4183-25BF-9694-D65E-79176D52F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1801368"/>
            <a:ext cx="6808787" cy="3504057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Anecdotal reports </a:t>
            </a:r>
          </a:p>
          <a:p>
            <a:r>
              <a:rPr lang="en-US" sz="2800" dirty="0"/>
              <a:t>three-mile island nuclear accidents </a:t>
            </a:r>
            <a:r>
              <a:rPr lang="en-US" sz="2800" b="1" dirty="0"/>
              <a:t>vs</a:t>
            </a:r>
            <a:r>
              <a:rPr lang="en-US" sz="2800" dirty="0"/>
              <a:t> cyclone Tracy</a:t>
            </a:r>
          </a:p>
          <a:p>
            <a:pPr algn="r"/>
            <a:r>
              <a:rPr lang="en-US" sz="1800" dirty="0"/>
              <a:t>Baum et al. (1983)</a:t>
            </a:r>
          </a:p>
          <a:p>
            <a:endParaRPr lang="en-US" sz="2800" dirty="0"/>
          </a:p>
          <a:p>
            <a:r>
              <a:rPr lang="en-US" sz="2800" b="1" dirty="0"/>
              <a:t>Human-made</a:t>
            </a:r>
            <a:r>
              <a:rPr lang="en-US" sz="2800" dirty="0"/>
              <a:t> disasters have longer, stronger psychological impacts than </a:t>
            </a:r>
            <a:r>
              <a:rPr lang="en-US" sz="2800" b="1" dirty="0"/>
              <a:t>natural disasters </a:t>
            </a:r>
          </a:p>
          <a:p>
            <a:endParaRPr lang="en-US" sz="2800" b="1" dirty="0"/>
          </a:p>
          <a:p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CA229-865D-AD35-A94A-D45E6A8B9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038" y="3133725"/>
            <a:ext cx="3932237" cy="5905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AE8456"/>
                </a:solidFill>
              </a:rPr>
              <a:t>Public heath </a:t>
            </a:r>
            <a:endParaRPr lang="en-US" sz="2800" b="1" dirty="0">
              <a:solidFill>
                <a:srgbClr val="AE845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DEC721-5A83-F6E9-30C8-80998B3F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689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Natural vs. Human-made </a:t>
            </a:r>
          </a:p>
        </p:txBody>
      </p:sp>
    </p:spTree>
    <p:extLst>
      <p:ext uri="{BB962C8B-B14F-4D97-AF65-F5344CB8AC3E}">
        <p14:creationId xmlns:p14="http://schemas.microsoft.com/office/powerpoint/2010/main" val="110727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DE12A-8373-715D-8CBC-EEAD8493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8741E-1D79-50C0-7FCA-3A65024AA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73892" y="1806843"/>
            <a:ext cx="7064070" cy="3504057"/>
          </a:xfrm>
        </p:spPr>
        <p:txBody>
          <a:bodyPr>
            <a:normAutofit/>
          </a:bodyPr>
          <a:lstStyle/>
          <a:p>
            <a:r>
              <a:rPr lang="en-US" sz="2800" dirty="0"/>
              <a:t>Anecdotal reports, lab experiment, archival study </a:t>
            </a:r>
          </a:p>
          <a:p>
            <a:pPr algn="r"/>
            <a:r>
              <a:rPr lang="en-US" sz="1800" dirty="0"/>
              <a:t>(Baum et al., 1983; Siegrist &amp; </a:t>
            </a:r>
            <a:r>
              <a:rPr lang="en-US" sz="1800" dirty="0" err="1"/>
              <a:t>Sütterlin</a:t>
            </a:r>
            <a:r>
              <a:rPr lang="en-US" sz="1800" dirty="0"/>
              <a:t>, 2014; Shapouri et al., 2023)</a:t>
            </a:r>
          </a:p>
          <a:p>
            <a:endParaRPr lang="en-US" sz="2800" dirty="0"/>
          </a:p>
          <a:p>
            <a:r>
              <a:rPr lang="en-US" sz="2800" dirty="0"/>
              <a:t>Not tested in the context of an actual climate disaster</a:t>
            </a:r>
          </a:p>
          <a:p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0FF98-BFBD-0484-89EB-13BE3657A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4038" y="3133725"/>
            <a:ext cx="3932237" cy="59055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AE8456"/>
                </a:solidFill>
              </a:rPr>
              <a:t>Public heath </a:t>
            </a:r>
            <a:endParaRPr lang="en-US" sz="2800" b="1" dirty="0">
              <a:solidFill>
                <a:srgbClr val="AE845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34294F-FDB5-9036-B428-281C64EE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69"/>
            <a:ext cx="10515600" cy="85519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Natural vs. Human-made </a:t>
            </a:r>
          </a:p>
        </p:txBody>
      </p:sp>
    </p:spTree>
    <p:extLst>
      <p:ext uri="{BB962C8B-B14F-4D97-AF65-F5344CB8AC3E}">
        <p14:creationId xmlns:p14="http://schemas.microsoft.com/office/powerpoint/2010/main" val="257851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AE60C-1C8C-C270-D819-45AB19F5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3C57-4EA1-57B3-FB32-6C56CFBA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54" y="233680"/>
            <a:ext cx="5066598" cy="74959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9538"/>
                </a:solidFill>
                <a:latin typeface="+mn-lt"/>
              </a:rPr>
              <a:t>Los Angeles Fires of 2025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ED300F-8182-5CF7-B24A-90E063917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30819"/>
            <a:ext cx="6246628" cy="42955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E425FD-9CBE-AF11-63AE-27693C77F4A0}"/>
              </a:ext>
            </a:extLst>
          </p:cNvPr>
          <p:cNvSpPr txBox="1"/>
          <p:nvPr/>
        </p:nvSpPr>
        <p:spPr>
          <a:xfrm>
            <a:off x="6632117" y="733246"/>
            <a:ext cx="40358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Palisades and Eaton fires ignited in Los Angeles County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The most destructive wildfire disaster in the county's history (Woolcott, 2025)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Lack of preparedness at individual, county, and state level </a:t>
            </a:r>
          </a:p>
        </p:txBody>
      </p:sp>
    </p:spTree>
    <p:extLst>
      <p:ext uri="{BB962C8B-B14F-4D97-AF65-F5344CB8AC3E}">
        <p14:creationId xmlns:p14="http://schemas.microsoft.com/office/powerpoint/2010/main" val="125059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63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Recruitment and </a:t>
            </a:r>
            <a:r>
              <a:rPr lang="en-US"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S</a:t>
            </a: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tudy </a:t>
            </a:r>
            <a:r>
              <a:rPr lang="en-US" sz="360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T</a:t>
            </a: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iming</a:t>
            </a:r>
            <a:endParaRPr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E5E2B-FB12-4843-8BC3-71460E440114}"/>
              </a:ext>
            </a:extLst>
          </p:cNvPr>
          <p:cNvSpPr>
            <a:spLocks noGrp="1"/>
          </p:cNvSpPr>
          <p:nvPr/>
        </p:nvSpPr>
        <p:spPr>
          <a:xfrm>
            <a:off x="838200" y="3499697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February-September 202</a:t>
            </a:r>
            <a:r>
              <a:rPr lang="en-US"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5 </a:t>
            </a:r>
            <a:endParaRPr sz="2800" b="1" dirty="0">
              <a:solidFill>
                <a:srgbClr val="E995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BA447-2E8C-460E-BF0A-5F48BAC23B43}"/>
              </a:ext>
            </a:extLst>
          </p:cNvPr>
          <p:cNvSpPr>
            <a:spLocks noGrp="1"/>
          </p:cNvSpPr>
          <p:nvPr/>
        </p:nvSpPr>
        <p:spPr>
          <a:xfrm>
            <a:off x="838200" y="3918797"/>
            <a:ext cx="10191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lang="en-US"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UCLA Wildfire Impacted Communities Registry </a:t>
            </a:r>
            <a:endParaRPr sz="2800" b="0" dirty="0">
              <a:solidFill>
                <a:srgbClr val="F6F6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2159C-2A1D-4B8F-AAEE-A378013324F4}"/>
              </a:ext>
            </a:extLst>
          </p:cNvPr>
          <p:cNvSpPr>
            <a:spLocks noGrp="1"/>
          </p:cNvSpPr>
          <p:nvPr/>
        </p:nvSpPr>
        <p:spPr>
          <a:xfrm>
            <a:off x="838200" y="1549083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January-April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B22F2-EAF0-4514-A94F-2C6F587D0924}"/>
              </a:ext>
            </a:extLst>
          </p:cNvPr>
          <p:cNvSpPr>
            <a:spLocks noGrp="1"/>
          </p:cNvSpPr>
          <p:nvPr/>
        </p:nvSpPr>
        <p:spPr>
          <a:xfrm>
            <a:off x="838200" y="1968183"/>
            <a:ext cx="101917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Survey approximately 12-15 months after the fires</a:t>
            </a:r>
            <a:endParaRPr lang="en-US" sz="2800" b="0" dirty="0">
              <a:solidFill>
                <a:srgbClr val="F6F6F7"/>
              </a:solidFill>
              <a:latin typeface="Aptos"/>
              <a:ea typeface="Aptos"/>
              <a:cs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Multidisciplinary team in collaboration with LA fires community advisory board  </a:t>
            </a:r>
            <a:endParaRPr sz="2800" b="0" dirty="0">
              <a:solidFill>
                <a:srgbClr val="F6F6F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B1555B-782B-4FC2-B31C-56B6E5BC48DC}"/>
              </a:ext>
            </a:extLst>
          </p:cNvPr>
          <p:cNvSpPr>
            <a:spLocks noGrp="1"/>
          </p:cNvSpPr>
          <p:nvPr/>
        </p:nvSpPr>
        <p:spPr>
          <a:xfrm>
            <a:off x="838200" y="5012161"/>
            <a:ext cx="10382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3,863 invited     1,189 completed (30.8%)</a:t>
            </a:r>
          </a:p>
        </p:txBody>
      </p:sp>
    </p:spTree>
    <p:extLst>
      <p:ext uri="{BB962C8B-B14F-4D97-AF65-F5344CB8AC3E}">
        <p14:creationId xmlns:p14="http://schemas.microsoft.com/office/powerpoint/2010/main" val="1524198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546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Sample</a:t>
            </a:r>
            <a:endParaRPr sz="3600" dirty="0"/>
          </a:p>
        </p:txBody>
      </p:sp>
      <p:graphicFrame>
        <p:nvGraphicFramePr>
          <p:cNvPr id="5" name="Table 4"/>
          <p:cNvGraphicFramePr/>
          <p:nvPr>
            <p:extLst>
              <p:ext uri="{D42A27DB-BD31-4B8C-83A1-F6EECF244321}">
                <p14:modId xmlns:p14="http://schemas.microsoft.com/office/powerpoint/2010/main" val="4112105237"/>
              </p:ext>
            </p:extLst>
          </p:nvPr>
        </p:nvGraphicFramePr>
        <p:xfrm>
          <a:off x="838200" y="1762125"/>
          <a:ext cx="10515600" cy="3714753"/>
        </p:xfrm>
        <a:graphic>
          <a:graphicData uri="http://schemas.openxmlformats.org/drawingml/2006/table">
            <a:tbl>
              <a:tblPr/>
              <a:tblGrid>
                <a:gridCol w="623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E99538"/>
                          </a:solidFill>
                          <a:latin typeface="Aptos"/>
                          <a:ea typeface="Aptos"/>
                          <a:cs typeface="Aptos"/>
                        </a:rPr>
                        <a:t>Characteristic</a:t>
                      </a:r>
                      <a:endParaRPr sz="2400" b="1" dirty="0">
                        <a:solidFill>
                          <a:srgbClr val="E995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>
                    <a:solidFill>
                      <a:srgbClr val="2533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E99538"/>
                          </a:solidFill>
                          <a:latin typeface="+mn-lt"/>
                          <a:ea typeface="Aptos"/>
                          <a:cs typeface="Aptos"/>
                        </a:rPr>
                        <a:t>Statistic</a:t>
                      </a:r>
                      <a:endParaRPr sz="2400" b="1" dirty="0">
                        <a:solidFill>
                          <a:srgbClr val="E99538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>
                    <a:solidFill>
                      <a:srgbClr val="25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Participants</a:t>
                      </a:r>
                      <a:endParaRPr sz="2400" b="0" dirty="0">
                        <a:solidFill>
                          <a:srgbClr val="F6F6F7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>
                    <a:solidFill>
                      <a:srgbClr val="0C1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1,189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Mean age (SD)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54.7 years (16.0)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Women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726 (61.1%)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White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768 (64.6%)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College degree or postgraduate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925 (77.8%)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Median household income category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F6F6F7"/>
                          </a:solidFill>
                          <a:latin typeface="Aptos"/>
                          <a:ea typeface="Aptos"/>
                          <a:cs typeface="Aptos"/>
                        </a:rPr>
                        <a:t>$150,000-$199,999</a:t>
                      </a:r>
                    </a:p>
                  </a:txBody>
                  <a:tcPr>
                    <a:solidFill>
                      <a:srgbClr val="0C1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444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D1D6-2572-A56B-28A5-B6AAF2A1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2D3A26-F2C7-5969-A22C-555B69472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1626781"/>
            <a:ext cx="6826581" cy="423426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49C5C-0AEE-15F9-6200-432EBAC14AB2}"/>
              </a:ext>
            </a:extLst>
          </p:cNvPr>
          <p:cNvSpPr txBox="1"/>
          <p:nvPr/>
        </p:nvSpPr>
        <p:spPr>
          <a:xfrm>
            <a:off x="5642187" y="996950"/>
            <a:ext cx="6367582" cy="391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Entirely human-caused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Mostly human-caused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Equally caused by humans and natural processes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Mostly natural processes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Entirely natural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FC993-179B-CCC4-9E4B-B7083F823DB3}"/>
              </a:ext>
            </a:extLst>
          </p:cNvPr>
          <p:cNvSpPr txBox="1"/>
          <p:nvPr/>
        </p:nvSpPr>
        <p:spPr>
          <a:xfrm>
            <a:off x="182231" y="1691789"/>
            <a:ext cx="50077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“To what extent do you think wildfires are caused by human activities (e.g., accidents, arson, power lines) versus natural processes (e.g., lightning, drought, high winds)?”</a:t>
            </a:r>
          </a:p>
          <a:p>
            <a:endParaRPr 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BAEFB3-D813-A0D5-3724-301B61540DC2}"/>
              </a:ext>
            </a:extLst>
          </p:cNvPr>
          <p:cNvSpPr txBox="1">
            <a:spLocks/>
          </p:cNvSpPr>
          <p:nvPr/>
        </p:nvSpPr>
        <p:spPr>
          <a:xfrm>
            <a:off x="838200" y="291668"/>
            <a:ext cx="10515600" cy="855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Perceived cause </a:t>
            </a:r>
          </a:p>
        </p:txBody>
      </p:sp>
    </p:spTree>
    <p:extLst>
      <p:ext uri="{BB962C8B-B14F-4D97-AF65-F5344CB8AC3E}">
        <p14:creationId xmlns:p14="http://schemas.microsoft.com/office/powerpoint/2010/main" val="651559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413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Few participants chose natural causes</a:t>
            </a:r>
            <a:endParaRPr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BCD36-5685-4CE4-8056-F8D086DE28D5}"/>
              </a:ext>
            </a:extLst>
          </p:cNvPr>
          <p:cNvSpPr>
            <a:spLocks noGrp="1"/>
          </p:cNvSpPr>
          <p:nvPr/>
        </p:nvSpPr>
        <p:spPr>
          <a:xfrm>
            <a:off x="838200" y="5267325"/>
            <a:ext cx="9958493" cy="25971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2025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lang="en-US" sz="2025" b="0" dirty="0">
                <a:solidFill>
                  <a:srgbClr val="C6CEDD"/>
                </a:solidFill>
                <a:latin typeface="Aptos"/>
                <a:ea typeface="Aptos"/>
                <a:cs typeface="Aptos"/>
              </a:rPr>
              <a:t>N = </a:t>
            </a:r>
            <a:r>
              <a:rPr sz="2025" b="0" dirty="0">
                <a:solidFill>
                  <a:srgbClr val="C6CEDD"/>
                </a:solidFill>
                <a:latin typeface="Aptos"/>
                <a:ea typeface="Aptos"/>
                <a:cs typeface="Aptos"/>
              </a:rPr>
              <a:t>1,030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C2E802-0644-4C83-9A4E-ED4CDF82B13C}"/>
              </a:ext>
            </a:extLst>
          </p:cNvPr>
          <p:cNvSpPr>
            <a:spLocks noGrp="1"/>
          </p:cNvSpPr>
          <p:nvPr/>
        </p:nvSpPr>
        <p:spPr>
          <a:xfrm>
            <a:off x="838200" y="242887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7AA92-FD3B-4E79-8C9A-DF02E199A04D}"/>
              </a:ext>
            </a:extLst>
          </p:cNvPr>
          <p:cNvSpPr>
            <a:spLocks noGrp="1"/>
          </p:cNvSpPr>
          <p:nvPr/>
        </p:nvSpPr>
        <p:spPr>
          <a:xfrm>
            <a:off x="3048000" y="2476500"/>
            <a:ext cx="5520690" cy="400050"/>
          </a:xfrm>
          <a:prstGeom prst="rect">
            <a:avLst/>
          </a:prstGeom>
          <a:solidFill>
            <a:srgbClr val="E99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9C097-7077-4719-8BE8-A474D110276F}"/>
              </a:ext>
            </a:extLst>
          </p:cNvPr>
          <p:cNvSpPr>
            <a:spLocks noGrp="1"/>
          </p:cNvSpPr>
          <p:nvPr/>
        </p:nvSpPr>
        <p:spPr>
          <a:xfrm>
            <a:off x="8858250" y="24574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498 (48.3%)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E023F-96FF-4ECA-B7B7-958940BD36A0}"/>
              </a:ext>
            </a:extLst>
          </p:cNvPr>
          <p:cNvSpPr>
            <a:spLocks noGrp="1"/>
          </p:cNvSpPr>
          <p:nvPr/>
        </p:nvSpPr>
        <p:spPr>
          <a:xfrm>
            <a:off x="838200" y="340042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Equal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16AA6-EFB8-47FE-8721-E0F313E2781D}"/>
              </a:ext>
            </a:extLst>
          </p:cNvPr>
          <p:cNvSpPr>
            <a:spLocks noGrp="1"/>
          </p:cNvSpPr>
          <p:nvPr/>
        </p:nvSpPr>
        <p:spPr>
          <a:xfrm>
            <a:off x="3048000" y="3448050"/>
            <a:ext cx="5417820" cy="400050"/>
          </a:xfrm>
          <a:prstGeom prst="rect">
            <a:avLst/>
          </a:prstGeom>
          <a:solidFill>
            <a:srgbClr val="E99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C82255-9438-4888-BDF9-3BD8A6B5FB42}"/>
              </a:ext>
            </a:extLst>
          </p:cNvPr>
          <p:cNvSpPr>
            <a:spLocks noGrp="1"/>
          </p:cNvSpPr>
          <p:nvPr/>
        </p:nvSpPr>
        <p:spPr>
          <a:xfrm>
            <a:off x="8858250" y="342900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488 (47.4%)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634027-9C6A-462D-AFC5-2B0A7CE08F38}"/>
              </a:ext>
            </a:extLst>
          </p:cNvPr>
          <p:cNvSpPr>
            <a:spLocks noGrp="1"/>
          </p:cNvSpPr>
          <p:nvPr/>
        </p:nvSpPr>
        <p:spPr>
          <a:xfrm>
            <a:off x="838200" y="437197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Natural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A16607-E406-43F7-8770-99E7BD690837}"/>
              </a:ext>
            </a:extLst>
          </p:cNvPr>
          <p:cNvSpPr>
            <a:spLocks noGrp="1"/>
          </p:cNvSpPr>
          <p:nvPr/>
        </p:nvSpPr>
        <p:spPr>
          <a:xfrm>
            <a:off x="3048000" y="4419600"/>
            <a:ext cx="491490" cy="400050"/>
          </a:xfrm>
          <a:prstGeom prst="rect">
            <a:avLst/>
          </a:prstGeom>
          <a:solidFill>
            <a:srgbClr val="C6CED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7E9827-D22F-410C-B44E-171653A3D6F3}"/>
              </a:ext>
            </a:extLst>
          </p:cNvPr>
          <p:cNvSpPr>
            <a:spLocks noGrp="1"/>
          </p:cNvSpPr>
          <p:nvPr/>
        </p:nvSpPr>
        <p:spPr>
          <a:xfrm>
            <a:off x="8858250" y="44005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44 (4.3%)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32BD2F-44C9-40D2-BB7F-D3E6ACCF10C9}"/>
              </a:ext>
            </a:extLst>
          </p:cNvPr>
          <p:cNvSpPr>
            <a:spLocks noGrp="1"/>
          </p:cNvSpPr>
          <p:nvPr/>
        </p:nvSpPr>
        <p:spPr>
          <a:xfrm>
            <a:off x="838200" y="56388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endParaRPr sz="1725" b="0" dirty="0">
              <a:solidFill>
                <a:srgbClr val="C6CED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4297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B2B1-6FEC-0968-5548-F9C98467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552B8-2147-1889-CAFA-A79E8EDF4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26781"/>
            <a:ext cx="6172200" cy="423426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A5B39-1A29-0D04-E16C-90C65750AD36}"/>
              </a:ext>
            </a:extLst>
          </p:cNvPr>
          <p:cNvSpPr txBox="1"/>
          <p:nvPr/>
        </p:nvSpPr>
        <p:spPr>
          <a:xfrm>
            <a:off x="708942" y="3055399"/>
            <a:ext cx="50077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Posttraumatic stress symptoms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Depression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Anxiety  </a:t>
            </a:r>
          </a:p>
          <a:p>
            <a:endParaRPr 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CD8F13-C069-FFE8-BE0F-886EDA4453EE}"/>
              </a:ext>
            </a:extLst>
          </p:cNvPr>
          <p:cNvSpPr txBox="1">
            <a:spLocks/>
          </p:cNvSpPr>
          <p:nvPr/>
        </p:nvSpPr>
        <p:spPr>
          <a:xfrm>
            <a:off x="838200" y="273578"/>
            <a:ext cx="10515600" cy="855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Mental health outcomes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FDEEF-82F6-B880-6EE7-39F5D601AC75}"/>
              </a:ext>
            </a:extLst>
          </p:cNvPr>
          <p:cNvSpPr txBox="1"/>
          <p:nvPr/>
        </p:nvSpPr>
        <p:spPr>
          <a:xfrm>
            <a:off x="4951305" y="3183394"/>
            <a:ext cx="50077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Modified PC-PTSD-5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PHQ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GAD  </a:t>
            </a:r>
          </a:p>
          <a:p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A8D875-CC8C-5489-4704-DE8A91B227CF}"/>
              </a:ext>
            </a:extLst>
          </p:cNvPr>
          <p:cNvSpPr txBox="1"/>
          <p:nvPr/>
        </p:nvSpPr>
        <p:spPr>
          <a:xfrm>
            <a:off x="708942" y="1451483"/>
            <a:ext cx="10318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Demographics                           </a:t>
            </a:r>
            <a:r>
              <a:rPr lang="en-US" sz="2400" dirty="0">
                <a:solidFill>
                  <a:schemeClr val="bg1"/>
                </a:solidFill>
              </a:rPr>
              <a:t>Age, Gender, Education, Race, Income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B0A57-CDDB-5450-ABCB-414FF7AE5A6A}"/>
              </a:ext>
            </a:extLst>
          </p:cNvPr>
          <p:cNvSpPr txBox="1"/>
          <p:nvPr/>
        </p:nvSpPr>
        <p:spPr>
          <a:xfrm>
            <a:off x="708942" y="2182616"/>
            <a:ext cx="1661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Exposure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151C7-B4EC-2A73-115C-B527CF1EE44D}"/>
              </a:ext>
            </a:extLst>
          </p:cNvPr>
          <p:cNvSpPr txBox="1"/>
          <p:nvPr/>
        </p:nvSpPr>
        <p:spPr>
          <a:xfrm>
            <a:off x="4951305" y="1980788"/>
            <a:ext cx="7017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Self-reported evacuation </a:t>
            </a:r>
          </a:p>
          <a:p>
            <a:r>
              <a:rPr lang="en-US" sz="2400" dirty="0">
                <a:solidFill>
                  <a:schemeClr val="bg1"/>
                </a:solidFill>
              </a:rPr>
              <a:t>Official evacuation zones based on their addresses 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0280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838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Adjusted regression models</a:t>
            </a:r>
            <a:endParaRPr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180AEE-B85C-473E-A59D-D9399101442C}"/>
              </a:ext>
            </a:extLst>
          </p:cNvPr>
          <p:cNvSpPr>
            <a:spLocks noGrp="1"/>
          </p:cNvSpPr>
          <p:nvPr/>
        </p:nvSpPr>
        <p:spPr>
          <a:xfrm>
            <a:off x="885613" y="1721697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36538-1182-4847-99F5-30489C19B22C}"/>
              </a:ext>
            </a:extLst>
          </p:cNvPr>
          <p:cNvSpPr>
            <a:spLocks noGrp="1"/>
          </p:cNvSpPr>
          <p:nvPr/>
        </p:nvSpPr>
        <p:spPr>
          <a:xfrm>
            <a:off x="885613" y="2140797"/>
            <a:ext cx="108458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lang="en-US"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Perceived cause as predictor, PTS as outcome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28E2D-74BD-414F-9311-EF67EED154C0}"/>
              </a:ext>
            </a:extLst>
          </p:cNvPr>
          <p:cNvSpPr>
            <a:spLocks noGrp="1"/>
          </p:cNvSpPr>
          <p:nvPr/>
        </p:nvSpPr>
        <p:spPr>
          <a:xfrm>
            <a:off x="838200" y="2866231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lang="en-US"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Covariates </a:t>
            </a:r>
            <a:endParaRPr sz="2800" b="1" dirty="0">
              <a:solidFill>
                <a:srgbClr val="E995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76303-BDA8-4907-A8CB-9FDD9BA7F530}"/>
              </a:ext>
            </a:extLst>
          </p:cNvPr>
          <p:cNvSpPr>
            <a:spLocks noGrp="1"/>
          </p:cNvSpPr>
          <p:nvPr/>
        </p:nvSpPr>
        <p:spPr>
          <a:xfrm>
            <a:off x="838200" y="3285331"/>
            <a:ext cx="10191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Age, gender, race, education, income, and evacuation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82F901-2AB9-48E4-9FEC-8D491E25CF29}"/>
              </a:ext>
            </a:extLst>
          </p:cNvPr>
          <p:cNvSpPr>
            <a:spLocks noGrp="1"/>
          </p:cNvSpPr>
          <p:nvPr/>
        </p:nvSpPr>
        <p:spPr>
          <a:xfrm>
            <a:off x="885613" y="4270375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FF55F-8890-49B0-8FA5-DE3FB32B762E}"/>
              </a:ext>
            </a:extLst>
          </p:cNvPr>
          <p:cNvSpPr>
            <a:spLocks noGrp="1"/>
          </p:cNvSpPr>
          <p:nvPr/>
        </p:nvSpPr>
        <p:spPr>
          <a:xfrm>
            <a:off x="885613" y="4689475"/>
            <a:ext cx="1019175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Linear regression with HC3 robust standard errors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8A135-33A6-11A9-F442-A4CDA70C43A6}"/>
              </a:ext>
            </a:extLst>
          </p:cNvPr>
          <p:cNvSpPr txBox="1"/>
          <p:nvPr/>
        </p:nvSpPr>
        <p:spPr>
          <a:xfrm>
            <a:off x="885613" y="5556250"/>
            <a:ext cx="480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N</a:t>
            </a:r>
            <a:r>
              <a:rPr lang="en-US" sz="2800" dirty="0">
                <a:solidFill>
                  <a:schemeClr val="bg1"/>
                </a:solidFill>
              </a:rPr>
              <a:t> = 636</a:t>
            </a:r>
          </a:p>
        </p:txBody>
      </p:sp>
    </p:spTree>
    <p:extLst>
      <p:ext uri="{BB962C8B-B14F-4D97-AF65-F5344CB8AC3E}">
        <p14:creationId xmlns:p14="http://schemas.microsoft.com/office/powerpoint/2010/main" val="3921373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75" y="200025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Lower PTS in the equal and natural groups</a:t>
            </a:r>
            <a:endParaRPr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62CD3-86FB-4D00-88F2-629EC011613A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C6CEDD"/>
                </a:solidFill>
                <a:latin typeface="Aptos"/>
                <a:ea typeface="Aptos"/>
                <a:cs typeface="Aptos"/>
              </a:rPr>
              <a:t>Reference group: human-caused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E3218A2-0BEA-4DCD-B262-AB102EF5E8A6}"/>
              </a:ext>
            </a:extLst>
          </p:cNvPr>
          <p:cNvSpPr>
            <a:spLocks noGrp="1"/>
          </p:cNvSpPr>
          <p:nvPr/>
        </p:nvSpPr>
        <p:spPr>
          <a:xfrm>
            <a:off x="8258175" y="2381250"/>
            <a:ext cx="0" cy="1905000"/>
          </a:xfrm>
          <a:prstGeom prst="line">
            <a:avLst/>
          </a:prstGeom>
          <a:noFill/>
          <a:ln w="19050">
            <a:solidFill>
              <a:srgbClr val="8591A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3C6E4-2C62-4C9E-A32F-BA8A083B0706}"/>
              </a:ext>
            </a:extLst>
          </p:cNvPr>
          <p:cNvSpPr>
            <a:spLocks noGrp="1"/>
          </p:cNvSpPr>
          <p:nvPr/>
        </p:nvSpPr>
        <p:spPr>
          <a:xfrm>
            <a:off x="4953000" y="441960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CEDD"/>
                </a:solidFill>
                <a:latin typeface="Aptos"/>
                <a:ea typeface="Aptos"/>
                <a:cs typeface="Aptos"/>
              </a:rPr>
              <a:t>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4403A-FA08-42D1-BF4E-A8C46A6A41B1}"/>
              </a:ext>
            </a:extLst>
          </p:cNvPr>
          <p:cNvSpPr>
            <a:spLocks noGrp="1"/>
          </p:cNvSpPr>
          <p:nvPr/>
        </p:nvSpPr>
        <p:spPr>
          <a:xfrm>
            <a:off x="5743575" y="441960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CEDD"/>
                </a:solidFill>
                <a:latin typeface="Aptos"/>
                <a:ea typeface="Aptos"/>
                <a:cs typeface="Aptos"/>
              </a:rPr>
              <a:t>-3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FA20E6-AB17-400E-B2F1-7BE1BC58A35B}"/>
              </a:ext>
            </a:extLst>
          </p:cNvPr>
          <p:cNvSpPr>
            <a:spLocks noGrp="1"/>
          </p:cNvSpPr>
          <p:nvPr/>
        </p:nvSpPr>
        <p:spPr>
          <a:xfrm>
            <a:off x="6534150" y="441960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CEDD"/>
                </a:solidFill>
                <a:latin typeface="Aptos"/>
                <a:ea typeface="Aptos"/>
                <a:cs typeface="Aptos"/>
              </a:rPr>
              <a:t>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B67112-EFF1-4CD3-AF22-CFAC1523944D}"/>
              </a:ext>
            </a:extLst>
          </p:cNvPr>
          <p:cNvSpPr>
            <a:spLocks noGrp="1"/>
          </p:cNvSpPr>
          <p:nvPr/>
        </p:nvSpPr>
        <p:spPr>
          <a:xfrm>
            <a:off x="7324725" y="441960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CEDD"/>
                </a:solidFill>
                <a:latin typeface="Aptos"/>
                <a:ea typeface="Aptos"/>
                <a:cs typeface="Aptos"/>
              </a:rPr>
              <a:t>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E11819-03D8-4EC6-B3D1-06F28C3CD7D0}"/>
              </a:ext>
            </a:extLst>
          </p:cNvPr>
          <p:cNvSpPr>
            <a:spLocks noGrp="1"/>
          </p:cNvSpPr>
          <p:nvPr/>
        </p:nvSpPr>
        <p:spPr>
          <a:xfrm>
            <a:off x="8115300" y="441960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CED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A69B8D-FFC4-4624-987D-53A946DC5AB2}"/>
              </a:ext>
            </a:extLst>
          </p:cNvPr>
          <p:cNvSpPr>
            <a:spLocks noGrp="1"/>
          </p:cNvSpPr>
          <p:nvPr/>
        </p:nvSpPr>
        <p:spPr>
          <a:xfrm>
            <a:off x="8905875" y="4419600"/>
            <a:ext cx="381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CED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89DB4-F5A4-4340-BE80-AB996E63E09D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Equal causes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3107FA9-65AE-4E77-9C83-A98BAE36FB51}"/>
              </a:ext>
            </a:extLst>
          </p:cNvPr>
          <p:cNvSpPr>
            <a:spLocks noGrp="1"/>
          </p:cNvSpPr>
          <p:nvPr/>
        </p:nvSpPr>
        <p:spPr>
          <a:xfrm>
            <a:off x="6985349" y="2714625"/>
            <a:ext cx="1201674" cy="0"/>
          </a:xfrm>
          <a:prstGeom prst="line">
            <a:avLst/>
          </a:prstGeom>
          <a:noFill/>
          <a:ln w="19050">
            <a:solidFill>
              <a:srgbClr val="E995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661C0CE-DCB3-4292-9178-6D90C3033474}"/>
              </a:ext>
            </a:extLst>
          </p:cNvPr>
          <p:cNvSpPr>
            <a:spLocks noGrp="1"/>
          </p:cNvSpPr>
          <p:nvPr/>
        </p:nvSpPr>
        <p:spPr>
          <a:xfrm>
            <a:off x="6985349" y="2647950"/>
            <a:ext cx="0" cy="133350"/>
          </a:xfrm>
          <a:prstGeom prst="line">
            <a:avLst/>
          </a:prstGeom>
          <a:noFill/>
          <a:ln w="19050">
            <a:solidFill>
              <a:srgbClr val="E995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C3ECA79-A97C-4113-A58B-5AF39B4935C1}"/>
              </a:ext>
            </a:extLst>
          </p:cNvPr>
          <p:cNvSpPr>
            <a:spLocks noGrp="1"/>
          </p:cNvSpPr>
          <p:nvPr/>
        </p:nvSpPr>
        <p:spPr>
          <a:xfrm>
            <a:off x="8187023" y="2647950"/>
            <a:ext cx="0" cy="133350"/>
          </a:xfrm>
          <a:prstGeom prst="line">
            <a:avLst/>
          </a:prstGeom>
          <a:noFill/>
          <a:ln w="19050">
            <a:solidFill>
              <a:srgbClr val="E995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09972E-1D79-4447-B8E1-002CD66A731C}"/>
              </a:ext>
            </a:extLst>
          </p:cNvPr>
          <p:cNvSpPr>
            <a:spLocks noGrp="1"/>
          </p:cNvSpPr>
          <p:nvPr/>
        </p:nvSpPr>
        <p:spPr>
          <a:xfrm>
            <a:off x="7529036" y="2657475"/>
            <a:ext cx="114300" cy="114300"/>
          </a:xfrm>
          <a:prstGeom prst="rect">
            <a:avLst/>
          </a:prstGeom>
          <a:solidFill>
            <a:srgbClr val="E99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ADDA3-33B9-4E26-A106-5B4B0C213004}"/>
              </a:ext>
            </a:extLst>
          </p:cNvPr>
          <p:cNvSpPr>
            <a:spLocks noGrp="1"/>
          </p:cNvSpPr>
          <p:nvPr/>
        </p:nvSpPr>
        <p:spPr>
          <a:xfrm>
            <a:off x="9334500" y="2428875"/>
            <a:ext cx="2000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-0.85</a:t>
            </a:r>
          </a:p>
          <a:p>
            <a:pPr>
              <a:defRPr sz="18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[-1.61, -0.09]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3E56A0-006A-4391-8A0C-90995CF360A5}"/>
              </a:ext>
            </a:extLst>
          </p:cNvPr>
          <p:cNvSpPr>
            <a:spLocks noGrp="1"/>
          </p:cNvSpPr>
          <p:nvPr/>
        </p:nvSpPr>
        <p:spPr>
          <a:xfrm>
            <a:off x="838200" y="3705225"/>
            <a:ext cx="4095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Natural causes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911AC8A-89D9-44E9-8D0E-8760384B1741}"/>
              </a:ext>
            </a:extLst>
          </p:cNvPr>
          <p:cNvSpPr>
            <a:spLocks noGrp="1"/>
          </p:cNvSpPr>
          <p:nvPr/>
        </p:nvSpPr>
        <p:spPr>
          <a:xfrm>
            <a:off x="5752052" y="3905250"/>
            <a:ext cx="2015966" cy="0"/>
          </a:xfrm>
          <a:prstGeom prst="line">
            <a:avLst/>
          </a:prstGeom>
          <a:noFill/>
          <a:ln w="19050">
            <a:solidFill>
              <a:srgbClr val="E995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A2D1206-66AE-4A67-ABF4-1A21D822B953}"/>
              </a:ext>
            </a:extLst>
          </p:cNvPr>
          <p:cNvSpPr>
            <a:spLocks noGrp="1"/>
          </p:cNvSpPr>
          <p:nvPr/>
        </p:nvSpPr>
        <p:spPr>
          <a:xfrm>
            <a:off x="5752052" y="3838575"/>
            <a:ext cx="0" cy="133350"/>
          </a:xfrm>
          <a:prstGeom prst="line">
            <a:avLst/>
          </a:prstGeom>
          <a:noFill/>
          <a:ln w="19050">
            <a:solidFill>
              <a:srgbClr val="E995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24C68DF3-835D-4270-9609-E15CFC28A383}"/>
              </a:ext>
            </a:extLst>
          </p:cNvPr>
          <p:cNvSpPr>
            <a:spLocks noGrp="1"/>
          </p:cNvSpPr>
          <p:nvPr/>
        </p:nvSpPr>
        <p:spPr>
          <a:xfrm>
            <a:off x="7768019" y="3838575"/>
            <a:ext cx="0" cy="133350"/>
          </a:xfrm>
          <a:prstGeom prst="line">
            <a:avLst/>
          </a:prstGeom>
          <a:noFill/>
          <a:ln w="19050">
            <a:solidFill>
              <a:srgbClr val="E9953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5C8E57-ACA0-411A-8266-B8D3FCDAC74F}"/>
              </a:ext>
            </a:extLst>
          </p:cNvPr>
          <p:cNvSpPr>
            <a:spLocks noGrp="1"/>
          </p:cNvSpPr>
          <p:nvPr/>
        </p:nvSpPr>
        <p:spPr>
          <a:xfrm>
            <a:off x="6698933" y="3848100"/>
            <a:ext cx="114300" cy="114300"/>
          </a:xfrm>
          <a:prstGeom prst="rect">
            <a:avLst/>
          </a:prstGeom>
          <a:solidFill>
            <a:srgbClr val="E9953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F30ADD-D6F3-4A51-B0AA-10C57C56E114}"/>
              </a:ext>
            </a:extLst>
          </p:cNvPr>
          <p:cNvSpPr>
            <a:spLocks noGrp="1"/>
          </p:cNvSpPr>
          <p:nvPr/>
        </p:nvSpPr>
        <p:spPr>
          <a:xfrm>
            <a:off x="9334500" y="3619500"/>
            <a:ext cx="200025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-1.90</a:t>
            </a:r>
          </a:p>
          <a:p>
            <a:pPr>
              <a:defRPr sz="18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6F6F7"/>
                </a:solidFill>
                <a:latin typeface="Aptos"/>
                <a:ea typeface="Aptos"/>
                <a:cs typeface="Aptos"/>
              </a:rPr>
              <a:t>[-3.17, -0.62]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4369F-F5E2-46D9-B7F6-6712B9B87781}"/>
              </a:ext>
            </a:extLst>
          </p:cNvPr>
          <p:cNvSpPr>
            <a:spLocks noGrp="1"/>
          </p:cNvSpPr>
          <p:nvPr/>
        </p:nvSpPr>
        <p:spPr>
          <a:xfrm>
            <a:off x="4714875" y="4752975"/>
            <a:ext cx="5000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C6CEDD"/>
                </a:solidFill>
                <a:latin typeface="Aptos"/>
                <a:ea typeface="Aptos"/>
                <a:cs typeface="Aptos"/>
              </a:rPr>
              <a:t>Adjusted difference in PTS score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26FD8A-B96C-4594-BD14-8D3609F67EAA}"/>
              </a:ext>
            </a:extLst>
          </p:cNvPr>
          <p:cNvSpPr>
            <a:spLocks noGrp="1"/>
          </p:cNvSpPr>
          <p:nvPr/>
        </p:nvSpPr>
        <p:spPr>
          <a:xfrm>
            <a:off x="838200" y="551497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C6CEDD"/>
                </a:solidFill>
                <a:latin typeface="Aptos"/>
                <a:ea typeface="Aptos"/>
                <a:cs typeface="Aptos"/>
              </a:defRPr>
            </a:pPr>
            <a:r>
              <a:rPr sz="2400" b="0" dirty="0">
                <a:solidFill>
                  <a:srgbClr val="C6CEDD"/>
                </a:solidFill>
                <a:latin typeface="Aptos"/>
                <a:ea typeface="Aptos"/>
                <a:cs typeface="Aptos"/>
              </a:rPr>
              <a:t>Points show b. Lines show HC3 95%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326628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6CC2-FDD0-AE57-9FE3-33423215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F81ACF-E3D8-6F00-0F0E-2F76DC3F11E1}"/>
              </a:ext>
            </a:extLst>
          </p:cNvPr>
          <p:cNvSpPr txBox="1"/>
          <p:nvPr/>
        </p:nvSpPr>
        <p:spPr>
          <a:xfrm>
            <a:off x="4945839" y="1903228"/>
            <a:ext cx="68329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Official evacuation zones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chemeClr val="bg1"/>
                </a:solidFill>
              </a:rPr>
              <a:t>Same pattern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Natural and equal groups had lower PTS scores.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3EE61-293A-4FB6-F5EF-1537609283FB}"/>
              </a:ext>
            </a:extLst>
          </p:cNvPr>
          <p:cNvSpPr txBox="1"/>
          <p:nvPr/>
        </p:nvSpPr>
        <p:spPr>
          <a:xfrm>
            <a:off x="956930" y="1903228"/>
            <a:ext cx="350874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Sensitivity analysis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5F4F7B-12A1-BE79-7643-700C122AC347}"/>
              </a:ext>
            </a:extLst>
          </p:cNvPr>
          <p:cNvSpPr txBox="1">
            <a:spLocks/>
          </p:cNvSpPr>
          <p:nvPr/>
        </p:nvSpPr>
        <p:spPr>
          <a:xfrm>
            <a:off x="838200" y="223462"/>
            <a:ext cx="10515600" cy="855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Additional analyses</a:t>
            </a:r>
          </a:p>
        </p:txBody>
      </p:sp>
    </p:spTree>
    <p:extLst>
      <p:ext uri="{BB962C8B-B14F-4D97-AF65-F5344CB8AC3E}">
        <p14:creationId xmlns:p14="http://schemas.microsoft.com/office/powerpoint/2010/main" val="3147917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643E1-F867-20BB-A34A-F70C1442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67A1923-CFDE-7550-AD12-DFBFCA88F522}"/>
              </a:ext>
            </a:extLst>
          </p:cNvPr>
          <p:cNvSpPr txBox="1"/>
          <p:nvPr/>
        </p:nvSpPr>
        <p:spPr>
          <a:xfrm>
            <a:off x="5765412" y="1903228"/>
            <a:ext cx="500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No significant association between perceived cause and depression or anxiety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1DD82-650D-A9EC-E0E7-785DA1391CBA}"/>
              </a:ext>
            </a:extLst>
          </p:cNvPr>
          <p:cNvSpPr txBox="1"/>
          <p:nvPr/>
        </p:nvSpPr>
        <p:spPr>
          <a:xfrm>
            <a:off x="956930" y="1903228"/>
            <a:ext cx="35087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Depression or anxiety </a:t>
            </a:r>
          </a:p>
          <a:p>
            <a:endParaRPr lang="en-US" sz="2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44DC71A-E9C1-D08C-1EB2-30DEBD428959}"/>
              </a:ext>
            </a:extLst>
          </p:cNvPr>
          <p:cNvSpPr txBox="1">
            <a:spLocks/>
          </p:cNvSpPr>
          <p:nvPr/>
        </p:nvSpPr>
        <p:spPr>
          <a:xfrm>
            <a:off x="838200" y="379249"/>
            <a:ext cx="10515600" cy="855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Additional analyses</a:t>
            </a:r>
          </a:p>
        </p:txBody>
      </p:sp>
    </p:spTree>
    <p:extLst>
      <p:ext uri="{BB962C8B-B14F-4D97-AF65-F5344CB8AC3E}">
        <p14:creationId xmlns:p14="http://schemas.microsoft.com/office/powerpoint/2010/main" val="2730061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EE4F-D5E0-563E-EB7B-098B3E9B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640"/>
            <a:ext cx="10515600" cy="1028700"/>
          </a:xfrm>
        </p:spPr>
        <p:txBody>
          <a:bodyPr>
            <a:noAutofit/>
          </a:bodyPr>
          <a:lstStyle/>
          <a:p>
            <a:pPr>
              <a:defRPr sz="3300" b="0">
                <a:solidFill>
                  <a:srgbClr val="F6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What might explain the association</a:t>
            </a:r>
            <a:r>
              <a:rPr lang="en-US"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 between PTS and perceived cause</a:t>
            </a:r>
            <a:r>
              <a:rPr sz="3600" b="0" dirty="0">
                <a:solidFill>
                  <a:srgbClr val="F6F6F7"/>
                </a:solidFill>
                <a:latin typeface="Aptos Display"/>
                <a:ea typeface="Aptos Display"/>
                <a:cs typeface="Aptos Display"/>
              </a:rPr>
              <a:t>?</a:t>
            </a:r>
            <a:endParaRPr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8E7D8-0931-4987-8F64-718FC5DD5605}"/>
              </a:ext>
            </a:extLst>
          </p:cNvPr>
          <p:cNvSpPr>
            <a:spLocks noGrp="1"/>
          </p:cNvSpPr>
          <p:nvPr/>
        </p:nvSpPr>
        <p:spPr>
          <a:xfrm>
            <a:off x="750518" y="3004498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+mj-lt"/>
                <a:ea typeface="Aptos"/>
                <a:cs typeface="Aptos"/>
              </a:rPr>
              <a:t>Possible emotional pathways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1C0EF-604A-4809-8DCC-8C6CA5EAED15}"/>
              </a:ext>
            </a:extLst>
          </p:cNvPr>
          <p:cNvSpPr>
            <a:spLocks noGrp="1"/>
          </p:cNvSpPr>
          <p:nvPr/>
        </p:nvSpPr>
        <p:spPr>
          <a:xfrm>
            <a:off x="706676" y="3631354"/>
            <a:ext cx="10647124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Stronger negative emotions in response to technological disasters 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+mj-lt"/>
              </a:rPr>
              <a:t>(Shapouri et al., 2023)</a:t>
            </a:r>
          </a:p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endParaRPr lang="en-US" sz="2800" b="0" dirty="0">
              <a:solidFill>
                <a:srgbClr val="F6F6F7"/>
              </a:solidFill>
              <a:latin typeface="+mj-lt"/>
              <a:ea typeface="Aptos"/>
              <a:cs typeface="Aptos"/>
            </a:endParaRPr>
          </a:p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sz="2800" b="0" dirty="0">
                <a:solidFill>
                  <a:srgbClr val="F6F6F7"/>
                </a:solidFill>
                <a:ea typeface="Aptos"/>
                <a:cs typeface="Aptos"/>
              </a:rPr>
              <a:t>Anger or fear could link perceived causes with persistent symptoms.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DA4D6A-64AB-404B-ACBC-0B0810B55F05}"/>
              </a:ext>
            </a:extLst>
          </p:cNvPr>
          <p:cNvSpPr>
            <a:spLocks noGrp="1"/>
          </p:cNvSpPr>
          <p:nvPr/>
        </p:nvSpPr>
        <p:spPr>
          <a:xfrm>
            <a:off x="750518" y="1700319"/>
            <a:ext cx="10515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E99538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99538"/>
                </a:solidFill>
                <a:latin typeface="+mj-lt"/>
                <a:ea typeface="Aptos"/>
                <a:cs typeface="Aptos"/>
              </a:rPr>
              <a:t>Mechanisms remain untested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3AB365-C195-4512-B40A-0A4F81033CB7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10191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endParaRPr sz="2100" b="0" dirty="0">
              <a:solidFill>
                <a:srgbClr val="F6F6F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79658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C2DD-FF6B-35ED-7F48-599133C8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9B31F-522C-E312-F307-8DFC5B23C766}"/>
              </a:ext>
            </a:extLst>
          </p:cNvPr>
          <p:cNvSpPr txBox="1"/>
          <p:nvPr/>
        </p:nvSpPr>
        <p:spPr>
          <a:xfrm>
            <a:off x="264160" y="1903228"/>
            <a:ext cx="116772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How survivors make sense of </a:t>
            </a:r>
            <a:r>
              <a:rPr lang="en-US" sz="2800" i="1" dirty="0">
                <a:solidFill>
                  <a:schemeClr val="bg1"/>
                </a:solidFill>
              </a:rPr>
              <a:t>why</a:t>
            </a:r>
            <a:r>
              <a:rPr lang="en-US" sz="2800" dirty="0">
                <a:solidFill>
                  <a:schemeClr val="bg1"/>
                </a:solidFill>
              </a:rPr>
              <a:t> a trauma happened matters for recovery.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PTSD after disasters is partly shaped by perceived caused as natural or human-made. 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E85C49-FFE1-47CC-8A4D-E7961E2DF3D9}"/>
              </a:ext>
            </a:extLst>
          </p:cNvPr>
          <p:cNvSpPr txBox="1">
            <a:spLocks/>
          </p:cNvSpPr>
          <p:nvPr/>
        </p:nvSpPr>
        <p:spPr>
          <a:xfrm>
            <a:off x="838200" y="284423"/>
            <a:ext cx="10515600" cy="8551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E99538"/>
                </a:solidFill>
                <a:latin typeface="Aptos"/>
                <a:ea typeface="Aptos"/>
                <a:cs typeface="Aptos"/>
              </a:rPr>
              <a:t>Take-home message</a:t>
            </a:r>
          </a:p>
        </p:txBody>
      </p:sp>
    </p:spTree>
    <p:extLst>
      <p:ext uri="{BB962C8B-B14F-4D97-AF65-F5344CB8AC3E}">
        <p14:creationId xmlns:p14="http://schemas.microsoft.com/office/powerpoint/2010/main" val="739160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67A1-65FB-723E-17A2-8029E0534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666D47-8B9F-069E-AD8D-0F0299E9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80" y="71698"/>
            <a:ext cx="10515600" cy="72840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Acknowledgment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50283-6F42-DAE8-AF27-1662EEC3F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533" y="800100"/>
            <a:ext cx="11406294" cy="365197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E99538"/>
                </a:solidFill>
                <a:ea typeface="Aptos"/>
                <a:cs typeface="Aptos"/>
              </a:rPr>
              <a:t>UCLA </a:t>
            </a:r>
          </a:p>
          <a:p>
            <a:pPr>
              <a:defRPr sz="2025" b="0">
                <a:solidFill>
                  <a:srgbClr val="F6F6F7"/>
                </a:solidFill>
                <a:latin typeface="Aptos"/>
                <a:ea typeface="Aptos"/>
                <a:cs typeface="Aptos"/>
              </a:defRPr>
            </a:pPr>
            <a:r>
              <a:rPr lang="en-US" sz="2800" dirty="0">
                <a:solidFill>
                  <a:srgbClr val="F6F6F7"/>
                </a:solidFill>
                <a:latin typeface="Aptos"/>
                <a:ea typeface="Aptos"/>
                <a:cs typeface="Aptos"/>
              </a:rPr>
              <a:t>Rachel Connolly, Claire Bekker, David Eisenman, Miriam Marlier, Dana Rose Garfin,</a:t>
            </a:r>
            <a:r>
              <a:rPr lang="en-US" sz="2800" dirty="0"/>
              <a:t> Elizabeth Choa, Grace Bryant</a:t>
            </a:r>
            <a:endParaRPr lang="en-US" sz="2800" dirty="0">
              <a:solidFill>
                <a:srgbClr val="FF0000"/>
              </a:solidFill>
              <a:latin typeface="Aptos"/>
              <a:ea typeface="Aptos"/>
              <a:cs typeface="Aptos"/>
            </a:endParaRPr>
          </a:p>
          <a:p>
            <a:endParaRPr lang="en-US" sz="2800" dirty="0"/>
          </a:p>
          <a:p>
            <a:r>
              <a:rPr lang="en-US" sz="2800" b="1" dirty="0">
                <a:solidFill>
                  <a:srgbClr val="E99538"/>
                </a:solidFill>
              </a:rPr>
              <a:t>UC Irvine </a:t>
            </a:r>
          </a:p>
          <a:p>
            <a:r>
              <a:rPr lang="en-US" sz="2800" dirty="0">
                <a:solidFill>
                  <a:srgbClr val="F6F6F7"/>
                </a:solidFill>
                <a:ea typeface="Aptos"/>
                <a:cs typeface="Aptos"/>
              </a:rPr>
              <a:t>Roxane Silver Cohen, Alison Holman, Kayley D. </a:t>
            </a:r>
            <a:r>
              <a:rPr lang="en-US" sz="2800" dirty="0">
                <a:solidFill>
                  <a:schemeClr val="bg1"/>
                </a:solidFill>
                <a:ea typeface="Aptos"/>
                <a:cs typeface="Aptos"/>
              </a:rPr>
              <a:t>Estes, </a:t>
            </a:r>
            <a:r>
              <a:rPr lang="en-US" sz="2800" dirty="0">
                <a:solidFill>
                  <a:schemeClr val="bg1"/>
                </a:solidFill>
              </a:rPr>
              <a:t>Tiffany </a:t>
            </a:r>
            <a:r>
              <a:rPr lang="en-US" sz="2800" dirty="0" err="1">
                <a:solidFill>
                  <a:schemeClr val="bg1"/>
                </a:solidFill>
              </a:rPr>
              <a:t>Junchen</a:t>
            </a:r>
            <a:r>
              <a:rPr lang="en-US" sz="2800" dirty="0">
                <a:solidFill>
                  <a:schemeClr val="bg1"/>
                </a:solidFill>
              </a:rPr>
              <a:t> Tao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rgbClr val="E99538"/>
              </a:solidFill>
            </a:endParaRPr>
          </a:p>
          <a:p>
            <a:r>
              <a:rPr lang="en-US" sz="2800" b="1" dirty="0">
                <a:solidFill>
                  <a:srgbClr val="E99538"/>
                </a:solidFill>
              </a:rPr>
              <a:t>Community partners</a:t>
            </a:r>
            <a:r>
              <a:rPr lang="en-US" sz="2800" b="1" dirty="0"/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LA fires community advisory board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400F2-D454-79A8-3204-07B60DCE0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467" y="4160019"/>
            <a:ext cx="1556060" cy="155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4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876336B1FEC34C9AF13CFD0682E5C4" ma:contentTypeVersion="15" ma:contentTypeDescription="Create a new document." ma:contentTypeScope="" ma:versionID="f930fe4fb9fc0775590c4daff8c16b97">
  <xsd:schema xmlns:xsd="http://www.w3.org/2001/XMLSchema" xmlns:xs="http://www.w3.org/2001/XMLSchema" xmlns:p="http://schemas.microsoft.com/office/2006/metadata/properties" xmlns:ns2="16f9e34a-f673-4991-bd36-81c9500deaa7" xmlns:ns3="0d455e71-3517-45a9-a939-bdf8808606ae" targetNamespace="http://schemas.microsoft.com/office/2006/metadata/properties" ma:root="true" ma:fieldsID="cde4bf3402db8cf643ee45ef11b54067" ns2:_="" ns3:_="">
    <xsd:import namespace="16f9e34a-f673-4991-bd36-81c9500deaa7"/>
    <xsd:import namespace="0d455e71-3517-45a9-a939-bdf880860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9e34a-f673-4991-bd36-81c9500dea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22d6aeb-2130-4a19-b464-59cdf858f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455e71-3517-45a9-a939-bdf880860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e837d8e-31af-40a5-9b44-e3432619d9a9}" ma:internalName="TaxCatchAll" ma:showField="CatchAllData" ma:web="0d455e71-3517-45a9-a939-bdf880860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f9e34a-f673-4991-bd36-81c9500deaa7">
      <Terms xmlns="http://schemas.microsoft.com/office/infopath/2007/PartnerControls"/>
    </lcf76f155ced4ddcb4097134ff3c332f>
    <TaxCatchAll xmlns="0d455e71-3517-45a9-a939-bdf8808606ae" xsi:nil="true"/>
  </documentManagement>
</p:properties>
</file>

<file path=customXml/itemProps1.xml><?xml version="1.0" encoding="utf-8"?>
<ds:datastoreItem xmlns:ds="http://schemas.openxmlformats.org/officeDocument/2006/customXml" ds:itemID="{1C096B2B-A652-4499-9E2B-71FAFA9556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f9e34a-f673-4991-bd36-81c9500deaa7"/>
    <ds:schemaRef ds:uri="0d455e71-3517-45a9-a939-bdf880860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461CDA-AB55-4D84-9CEF-669BCD74C0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14700D-B035-4BA6-828A-0AE1243E6859}">
  <ds:schemaRefs>
    <ds:schemaRef ds:uri="http://schemas.microsoft.com/office/2006/metadata/properties"/>
    <ds:schemaRef ds:uri="0d455e71-3517-45a9-a939-bdf8808606ae"/>
    <ds:schemaRef ds:uri="http://purl.org/dc/dcmitype/"/>
    <ds:schemaRef ds:uri="http://schemas.microsoft.com/office/2006/documentManagement/types"/>
    <ds:schemaRef ds:uri="http://purl.org/dc/elements/1.1/"/>
    <ds:schemaRef ds:uri="16f9e34a-f673-4991-bd36-81c9500deaa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883</Words>
  <Application>Microsoft Office PowerPoint</Application>
  <PresentationFormat>Widescreen</PresentationFormat>
  <Paragraphs>235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Office Theme</vt:lpstr>
      <vt:lpstr>Burn and Blame</vt:lpstr>
      <vt:lpstr>CME financial disclosure</vt:lpstr>
      <vt:lpstr>Disasters and Mental health </vt:lpstr>
      <vt:lpstr>Disasters and Mental health </vt:lpstr>
      <vt:lpstr>Disasters and Mental health </vt:lpstr>
      <vt:lpstr>Disasters and Mental health </vt:lpstr>
      <vt:lpstr>Disasters and Mental health </vt:lpstr>
      <vt:lpstr>Disasters and Mental health </vt:lpstr>
      <vt:lpstr>Natural vs. Human-made </vt:lpstr>
      <vt:lpstr>Natural vs. Human-made </vt:lpstr>
      <vt:lpstr>Natural vs. Human-made </vt:lpstr>
      <vt:lpstr>Natural vs. Human-made </vt:lpstr>
      <vt:lpstr>Los Angeles Fires of 2025 </vt:lpstr>
      <vt:lpstr>Recruitment and Study Timing</vt:lpstr>
      <vt:lpstr>Sample</vt:lpstr>
      <vt:lpstr>PowerPoint Presentation</vt:lpstr>
      <vt:lpstr>Few participants chose natural causes</vt:lpstr>
      <vt:lpstr>PowerPoint Presentation</vt:lpstr>
      <vt:lpstr>Adjusted regression models</vt:lpstr>
      <vt:lpstr>Lower PTS in the equal and natural groups</vt:lpstr>
      <vt:lpstr>PowerPoint Presentation</vt:lpstr>
      <vt:lpstr>PowerPoint Presentation</vt:lpstr>
      <vt:lpstr>What might explain the association between PTS and perceived cause?</vt:lpstr>
      <vt:lpstr>PowerPoint Presentation</vt:lpstr>
      <vt:lpstr>Acknowledgment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Brahlek</dc:creator>
  <cp:lastModifiedBy>Soheil Shapouri</cp:lastModifiedBy>
  <cp:revision>54</cp:revision>
  <dcterms:created xsi:type="dcterms:W3CDTF">2026-04-30T16:25:28Z</dcterms:created>
  <dcterms:modified xsi:type="dcterms:W3CDTF">2026-09-23T15:09:59Z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0x010100E4876336B1FEC34C9AF13CFD0682E5C4</vt:lpwstr>
  </property>
  <property fmtid="{D5CDD505-2E9C-101B-9397-08002B2CF9AE}" pid="3" name="MediaServiceImageTags">
    <vt:lpwstr/>
  </property>
</Properties>
</file>